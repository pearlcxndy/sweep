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in one line: this is a shopping list built for the forty minutes inside the shop, not the two minutes before it. Everything else follows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jobs a list is asked to do. Only the first is one that existing lists actually do well. Land the closing line — fewer decisions, not a smarter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competitive audit. Be explicit that it is a desk audit, not usability testing. The point is the shared gap at the end, not criticism of any 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 is reasoned, not researched — say so before they ask. The constraint row is the one that earns the product its hardest feature: some items cannot be substituted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product decision in the deck. Planning and shopping are different tasks, so they get different interfaces. Everything in trip mode is downstream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slide. Lead with the rule, then the cuts — the cuts are the more interesting half and they are what makes the build order defensible. Expect a challenge on barcode scanning.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five beats. Do not try to show every screen. If time is short, the two that matter are Not here and the protected loaf.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comes from limited promises. Each of these three is a place where the app could have guessed and deliberately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interaction depth slide. If they only remember one thing: rotation is reversible because nothing moves relative to anything else in its half — which is why it beat drag-to-reorder.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boundary is the point: product rules are pure functions with no React and no I/O, so they are testable today and the data source is replaceable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behaviour, then show the code that enforces it. storeOrder.ts is the best file to open live — the rotation is short, tested, and easy to reason about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concrete and be honest. AI accelerated exploration; the rules are deterministic, tested and reviewable. Do not overclaim it as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evidence boundary out loud before they probe it. The closing line is the one to land: the app degrades honestly rather than pretending to know an aisle.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question I would validate next. It invites the conversation rather than claiming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A"/>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364047"/>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A5ADB1"/>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A5ADB1"/>
                </a:solidFill>
              </a:rPr>
              <a:t>01</a:t>
            </a:r>
            <a:endParaRPr lang="en-US" sz="700" dirty="0"/>
          </a:p>
        </p:txBody>
      </p:sp>
      <p:sp>
        <p:nvSpPr>
          <p:cNvPr id="5" name="Shape 3"/>
          <p:cNvSpPr/>
          <p:nvPr/>
        </p:nvSpPr>
        <p:spPr>
          <a:xfrm>
            <a:off x="8046720" y="548640"/>
            <a:ext cx="3108960" cy="3108960"/>
          </a:xfrm>
          <a:prstGeom prst="arc">
            <a:avLst/>
          </a:prstGeom>
          <a:noFill/>
          <a:ln w="228600">
            <a:solidFill>
              <a:srgbClr val="D8F05A"/>
            </a:solidFill>
            <a:prstDash val="solid"/>
          </a:ln>
        </p:spPr>
      </p:sp>
      <p:sp>
        <p:nvSpPr>
          <p:cNvPr id="6" name="Shape 4"/>
          <p:cNvSpPr/>
          <p:nvPr/>
        </p:nvSpPr>
        <p:spPr>
          <a:xfrm>
            <a:off x="8412480" y="3822192"/>
            <a:ext cx="2423160" cy="1005840"/>
          </a:xfrm>
          <a:prstGeom prst="roundRect">
            <a:avLst>
              <a:gd name="adj" fmla="val 18182"/>
            </a:avLst>
          </a:prstGeom>
          <a:solidFill>
            <a:srgbClr val="D8F05A"/>
          </a:solidFill>
          <a:ln w="12700">
            <a:solidFill>
              <a:srgbClr val="D8F05A"/>
            </a:solidFill>
            <a:prstDash val="solid"/>
          </a:ln>
        </p:spPr>
      </p:sp>
      <p:sp>
        <p:nvSpPr>
          <p:cNvPr id="7" name="Text 5"/>
          <p:cNvSpPr/>
          <p:nvPr/>
        </p:nvSpPr>
        <p:spPr>
          <a:xfrm>
            <a:off x="548640" y="621792"/>
            <a:ext cx="2194560" cy="320040"/>
          </a:xfrm>
          <a:prstGeom prst="rect">
            <a:avLst/>
          </a:prstGeom>
          <a:noFill/>
          <a:ln/>
        </p:spPr>
        <p:txBody>
          <a:bodyPr wrap="square" lIns="0" tIns="0" rIns="0" bIns="0" rtlCol="0" anchor="ctr"/>
          <a:lstStyle/>
          <a:p>
            <a:pPr indent="0" marL="0">
              <a:buNone/>
            </a:pPr>
            <a:r>
              <a:rPr lang="en-US" sz="1200" b="1" spc="400" kern="0" dirty="0">
                <a:solidFill>
                  <a:srgbClr val="D8F05A"/>
                </a:solidFill>
              </a:rPr>
              <a:t>SWEEP</a:t>
            </a:r>
            <a:endParaRPr lang="en-US" sz="1200" dirty="0"/>
          </a:p>
        </p:txBody>
      </p:sp>
      <p:sp>
        <p:nvSpPr>
          <p:cNvPr id="8" name="Text 6"/>
          <p:cNvSpPr/>
          <p:nvPr/>
        </p:nvSpPr>
        <p:spPr>
          <a:xfrm>
            <a:off x="548640" y="1325880"/>
            <a:ext cx="7132320" cy="1508760"/>
          </a:xfrm>
          <a:prstGeom prst="rect">
            <a:avLst/>
          </a:prstGeom>
          <a:noFill/>
          <a:ln/>
        </p:spPr>
        <p:txBody>
          <a:bodyPr wrap="square" lIns="0" tIns="0" rIns="0" bIns="0" rtlCol="0" anchor="ctr">
            <a:normAutofit/>
          </a:bodyPr>
          <a:lstStyle/>
          <a:p>
            <a:pPr indent="0" marL="0">
              <a:buNone/>
            </a:pPr>
            <a:r>
              <a:rPr lang="en-US" sz="3600" b="1" dirty="0">
                <a:solidFill>
                  <a:srgbClr val="FBFAF4"/>
                </a:solidFill>
              </a:rPr>
              <a:t>The shopping list</a:t>
            </a:r>
            <a:endParaRPr lang="en-US" sz="3600" dirty="0"/>
          </a:p>
          <a:p>
            <a:pPr indent="0" marL="0">
              <a:buNone/>
            </a:pPr>
            <a:r>
              <a:rPr lang="en-US" sz="3600" b="1" dirty="0">
                <a:solidFill>
                  <a:srgbClr val="FBFAF4"/>
                </a:solidFill>
              </a:rPr>
              <a:t>that helps in the shop.</a:t>
            </a:r>
            <a:endParaRPr lang="en-US" sz="3600" dirty="0"/>
          </a:p>
        </p:txBody>
      </p:sp>
      <p:sp>
        <p:nvSpPr>
          <p:cNvPr id="9" name="Text 7"/>
          <p:cNvSpPr/>
          <p:nvPr/>
        </p:nvSpPr>
        <p:spPr>
          <a:xfrm>
            <a:off x="576072" y="3163824"/>
            <a:ext cx="6217920" cy="274320"/>
          </a:xfrm>
          <a:prstGeom prst="rect">
            <a:avLst/>
          </a:prstGeom>
          <a:noFill/>
          <a:ln/>
        </p:spPr>
        <p:txBody>
          <a:bodyPr wrap="square" lIns="0" tIns="0" rIns="0" bIns="0" rtlCol="0" anchor="ctr"/>
          <a:lstStyle/>
          <a:p>
            <a:pPr indent="0" marL="0">
              <a:buNone/>
            </a:pPr>
            <a:r>
              <a:rPr lang="en-US" sz="1100" dirty="0">
                <a:solidFill>
                  <a:srgbClr val="C9CFCC"/>
                </a:solidFill>
              </a:rPr>
              <a:t>Algo1 Technical Product Case Study  ·  Product walkthrough + code review</a:t>
            </a:r>
            <a:endParaRPr lang="en-US" sz="1100" dirty="0"/>
          </a:p>
        </p:txBody>
      </p:sp>
      <p:sp>
        <p:nvSpPr>
          <p:cNvPr id="10" name="Text 8"/>
          <p:cNvSpPr/>
          <p:nvPr/>
        </p:nvSpPr>
        <p:spPr>
          <a:xfrm>
            <a:off x="576072" y="5358384"/>
            <a:ext cx="5852160" cy="274320"/>
          </a:xfrm>
          <a:prstGeom prst="rect">
            <a:avLst/>
          </a:prstGeom>
          <a:noFill/>
          <a:ln/>
        </p:spPr>
        <p:txBody>
          <a:bodyPr wrap="square" lIns="0" tIns="0" rIns="0" bIns="0" rtlCol="0" anchor="ctr"/>
          <a:lstStyle/>
          <a:p>
            <a:pPr indent="0" marL="0">
              <a:buNone/>
            </a:pPr>
            <a:r>
              <a:rPr lang="en-US" sz="1200" dirty="0">
                <a:solidFill>
                  <a:srgbClr val="D8F05A"/>
                </a:solidFill>
              </a:rPr>
              <a:t>A prototype for the 40 minutes inside the supermarket.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02</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THE OPPORTUNITY</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Lists remember items. They do not help shoppers decide.</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I focused the product on the moment a normal list becomes least useful: inside the store.</a:t>
            </a:r>
            <a:endParaRPr lang="en-US" sz="1200" dirty="0"/>
          </a:p>
        </p:txBody>
      </p:sp>
      <p:sp>
        <p:nvSpPr>
          <p:cNvPr id="8" name="Shape 6"/>
          <p:cNvSpPr/>
          <p:nvPr/>
        </p:nvSpPr>
        <p:spPr>
          <a:xfrm>
            <a:off x="566928" y="2331720"/>
            <a:ext cx="3520440" cy="2359152"/>
          </a:xfrm>
          <a:prstGeom prst="roundRect">
            <a:avLst>
              <a:gd name="adj" fmla="val 4651"/>
            </a:avLst>
          </a:prstGeom>
          <a:solidFill>
            <a:srgbClr val="E9ECE5"/>
          </a:solidFill>
          <a:ln w="12700">
            <a:solidFill>
              <a:srgbClr val="E9ECE5"/>
            </a:solidFill>
            <a:prstDash val="solid"/>
          </a:ln>
        </p:spPr>
      </p:sp>
      <p:sp>
        <p:nvSpPr>
          <p:cNvPr id="9" name="Text 7"/>
          <p:cNvSpPr/>
          <p:nvPr/>
        </p:nvSpPr>
        <p:spPr>
          <a:xfrm>
            <a:off x="777240" y="251460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Remember</a:t>
            </a:r>
            <a:endParaRPr lang="en-US" sz="1100" dirty="0"/>
          </a:p>
        </p:txBody>
      </p:sp>
      <p:sp>
        <p:nvSpPr>
          <p:cNvPr id="10" name="Text 8"/>
          <p:cNvSpPr/>
          <p:nvPr/>
        </p:nvSpPr>
        <p:spPr>
          <a:xfrm>
            <a:off x="777240" y="2898648"/>
            <a:ext cx="3099816" cy="1645920"/>
          </a:xfrm>
          <a:prstGeom prst="rect">
            <a:avLst/>
          </a:prstGeom>
          <a:noFill/>
          <a:ln/>
        </p:spPr>
        <p:txBody>
          <a:bodyPr wrap="square" lIns="0" tIns="0" rIns="0" bIns="0" rtlCol="0" anchor="t">
            <a:normAutofit/>
          </a:bodyPr>
          <a:lstStyle/>
          <a:p>
            <a:pPr indent="0" marL="0">
              <a:buNone/>
            </a:pPr>
            <a:r>
              <a:rPr lang="en-US" sz="950" dirty="0">
                <a:solidFill>
                  <a:srgbClr val="3C4346"/>
                </a:solidFill>
              </a:rPr>
              <a:t>Did I forget milk, bin bags, or a staple I normally buy?</a:t>
            </a:r>
            <a:endParaRPr lang="en-US" sz="950" dirty="0"/>
          </a:p>
        </p:txBody>
      </p:sp>
      <p:sp>
        <p:nvSpPr>
          <p:cNvPr id="11" name="Shape 9"/>
          <p:cNvSpPr/>
          <p:nvPr/>
        </p:nvSpPr>
        <p:spPr>
          <a:xfrm>
            <a:off x="4315968" y="2331720"/>
            <a:ext cx="3520440" cy="2359152"/>
          </a:xfrm>
          <a:prstGeom prst="roundRect">
            <a:avLst>
              <a:gd name="adj" fmla="val 4651"/>
            </a:avLst>
          </a:prstGeom>
          <a:solidFill>
            <a:srgbClr val="E8F4FA"/>
          </a:solidFill>
          <a:ln w="12700">
            <a:solidFill>
              <a:srgbClr val="E8F4FA"/>
            </a:solidFill>
            <a:prstDash val="solid"/>
          </a:ln>
        </p:spPr>
      </p:sp>
      <p:sp>
        <p:nvSpPr>
          <p:cNvPr id="12" name="Text 10"/>
          <p:cNvSpPr/>
          <p:nvPr/>
        </p:nvSpPr>
        <p:spPr>
          <a:xfrm>
            <a:off x="4526280" y="251460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Navigate</a:t>
            </a:r>
            <a:endParaRPr lang="en-US" sz="1100" dirty="0"/>
          </a:p>
        </p:txBody>
      </p:sp>
      <p:sp>
        <p:nvSpPr>
          <p:cNvPr id="13" name="Text 11"/>
          <p:cNvSpPr/>
          <p:nvPr/>
        </p:nvSpPr>
        <p:spPr>
          <a:xfrm>
            <a:off x="4526280" y="2898648"/>
            <a:ext cx="3099816" cy="1645920"/>
          </a:xfrm>
          <a:prstGeom prst="rect">
            <a:avLst/>
          </a:prstGeom>
          <a:noFill/>
          <a:ln/>
        </p:spPr>
        <p:txBody>
          <a:bodyPr wrap="square" lIns="0" tIns="0" rIns="0" bIns="0" rtlCol="0" anchor="t">
            <a:normAutofit/>
          </a:bodyPr>
          <a:lstStyle/>
          <a:p>
            <a:pPr indent="0" marL="0">
              <a:buNone/>
            </a:pPr>
            <a:r>
              <a:rPr lang="en-US" sz="950" dirty="0">
                <a:solidFill>
                  <a:srgbClr val="3C4346"/>
                </a:solidFill>
              </a:rPr>
              <a:t>Where is the next item in this particular store—and am I walking backwards?</a:t>
            </a:r>
            <a:endParaRPr lang="en-US" sz="950" dirty="0"/>
          </a:p>
        </p:txBody>
      </p:sp>
      <p:sp>
        <p:nvSpPr>
          <p:cNvPr id="14" name="Shape 12"/>
          <p:cNvSpPr/>
          <p:nvPr/>
        </p:nvSpPr>
        <p:spPr>
          <a:xfrm>
            <a:off x="8065008" y="2331720"/>
            <a:ext cx="3520440" cy="2359152"/>
          </a:xfrm>
          <a:prstGeom prst="roundRect">
            <a:avLst>
              <a:gd name="adj" fmla="val 4651"/>
            </a:avLst>
          </a:prstGeom>
          <a:solidFill>
            <a:srgbClr val="FCE9E3"/>
          </a:solidFill>
          <a:ln w="12700">
            <a:solidFill>
              <a:srgbClr val="FCE9E3"/>
            </a:solidFill>
            <a:prstDash val="solid"/>
          </a:ln>
        </p:spPr>
      </p:sp>
      <p:sp>
        <p:nvSpPr>
          <p:cNvPr id="15" name="Text 13"/>
          <p:cNvSpPr/>
          <p:nvPr/>
        </p:nvSpPr>
        <p:spPr>
          <a:xfrm>
            <a:off x="8275320" y="251460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Resolve</a:t>
            </a:r>
            <a:endParaRPr lang="en-US" sz="1100" dirty="0"/>
          </a:p>
        </p:txBody>
      </p:sp>
      <p:sp>
        <p:nvSpPr>
          <p:cNvPr id="16" name="Text 14"/>
          <p:cNvSpPr/>
          <p:nvPr/>
        </p:nvSpPr>
        <p:spPr>
          <a:xfrm>
            <a:off x="8275320" y="2898648"/>
            <a:ext cx="3099816" cy="1645920"/>
          </a:xfrm>
          <a:prstGeom prst="rect">
            <a:avLst/>
          </a:prstGeom>
          <a:noFill/>
          <a:ln/>
        </p:spPr>
        <p:txBody>
          <a:bodyPr wrap="square" lIns="0" tIns="0" rIns="0" bIns="0" rtlCol="0" anchor="t">
            <a:normAutofit/>
          </a:bodyPr>
          <a:lstStyle/>
          <a:p>
            <a:pPr indent="0" marL="0">
              <a:buNone/>
            </a:pPr>
            <a:r>
              <a:rPr lang="en-US" sz="950" dirty="0">
                <a:solidFill>
                  <a:srgbClr val="3C4346"/>
                </a:solidFill>
              </a:rPr>
              <a:t>What is a safe replacement when the shelf is empty?</a:t>
            </a:r>
            <a:endParaRPr lang="en-US" sz="950" dirty="0"/>
          </a:p>
        </p:txBody>
      </p:sp>
      <p:sp>
        <p:nvSpPr>
          <p:cNvPr id="17" name="Text 15"/>
          <p:cNvSpPr/>
          <p:nvPr/>
        </p:nvSpPr>
        <p:spPr>
          <a:xfrm>
            <a:off x="594360" y="4937760"/>
            <a:ext cx="320040" cy="411480"/>
          </a:xfrm>
          <a:prstGeom prst="rect">
            <a:avLst/>
          </a:prstGeom>
          <a:noFill/>
          <a:ln/>
        </p:spPr>
        <p:txBody>
          <a:bodyPr wrap="square" lIns="0" tIns="0" rIns="0" bIns="0" rtlCol="0" anchor="ctr"/>
          <a:lstStyle/>
          <a:p>
            <a:pPr indent="0" marL="0">
              <a:buNone/>
            </a:pPr>
            <a:r>
              <a:rPr lang="en-US" sz="3200" dirty="0">
                <a:solidFill>
                  <a:srgbClr val="D8F05A"/>
                </a:solidFill>
              </a:rPr>
              <a:t>“</a:t>
            </a:r>
            <a:endParaRPr lang="en-US" sz="3200" dirty="0"/>
          </a:p>
        </p:txBody>
      </p:sp>
      <p:sp>
        <p:nvSpPr>
          <p:cNvPr id="18" name="Text 16"/>
          <p:cNvSpPr/>
          <p:nvPr/>
        </p:nvSpPr>
        <p:spPr>
          <a:xfrm>
            <a:off x="960120" y="5166360"/>
            <a:ext cx="9509760" cy="777240"/>
          </a:xfrm>
          <a:prstGeom prst="rect">
            <a:avLst/>
          </a:prstGeom>
          <a:noFill/>
          <a:ln/>
        </p:spPr>
        <p:txBody>
          <a:bodyPr wrap="square" lIns="0" tIns="0" rIns="0" bIns="0" rtlCol="0" anchor="ctr">
            <a:normAutofit/>
          </a:bodyPr>
          <a:lstStyle/>
          <a:p>
            <a:pPr indent="0" marL="0">
              <a:buNone/>
            </a:pPr>
            <a:r>
              <a:rPr lang="en-US" sz="1900" b="1" dirty="0">
                <a:solidFill>
                  <a:srgbClr val="14161A"/>
                </a:solidFill>
              </a:rPr>
              <a:t>The opportunity is not a smarter checklist; it is fewer decisions during the trip.</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03</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WHERE EXISTING TOOLS STOP</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Every tool hands over at the door.</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A desk audit of what Sarah could be using today. Each one is good at planning, and goes quiet the moment she is inside the shop.</a:t>
            </a:r>
            <a:endParaRPr lang="en-US" sz="1200" dirty="0"/>
          </a:p>
        </p:txBody>
      </p:sp>
      <p:sp>
        <p:nvSpPr>
          <p:cNvPr id="8" name="Shape 6"/>
          <p:cNvSpPr/>
          <p:nvPr/>
        </p:nvSpPr>
        <p:spPr>
          <a:xfrm>
            <a:off x="566928" y="2377440"/>
            <a:ext cx="3520440" cy="2432304"/>
          </a:xfrm>
          <a:prstGeom prst="roundRect">
            <a:avLst>
              <a:gd name="adj" fmla="val 4511"/>
            </a:avLst>
          </a:prstGeom>
          <a:solidFill>
            <a:srgbClr val="E9ECE5"/>
          </a:solidFill>
          <a:ln w="12700">
            <a:solidFill>
              <a:srgbClr val="E9ECE5"/>
            </a:solidFill>
            <a:prstDash val="solid"/>
          </a:ln>
        </p:spPr>
      </p:sp>
      <p:sp>
        <p:nvSpPr>
          <p:cNvPr id="9" name="Text 7"/>
          <p:cNvSpPr/>
          <p:nvPr/>
        </p:nvSpPr>
        <p:spPr>
          <a:xfrm>
            <a:off x="777240" y="256032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Paper and notes apps</a:t>
            </a:r>
            <a:endParaRPr lang="en-US" sz="1100" dirty="0"/>
          </a:p>
        </p:txBody>
      </p:sp>
      <p:sp>
        <p:nvSpPr>
          <p:cNvPr id="10" name="Text 8"/>
          <p:cNvSpPr/>
          <p:nvPr/>
        </p:nvSpPr>
        <p:spPr>
          <a:xfrm>
            <a:off x="777240" y="2944368"/>
            <a:ext cx="3099816" cy="1719072"/>
          </a:xfrm>
          <a:prstGeom prst="rect">
            <a:avLst/>
          </a:prstGeom>
          <a:noFill/>
          <a:ln/>
        </p:spPr>
        <p:txBody>
          <a:bodyPr wrap="square" lIns="0" tIns="0" rIns="0" bIns="0" rtlCol="0" anchor="t">
            <a:normAutofit/>
          </a:bodyPr>
          <a:lstStyle/>
          <a:p>
            <a:pPr indent="0" marL="0">
              <a:buNone/>
            </a:pPr>
            <a:r>
              <a:rPr lang="en-US" sz="950" dirty="0">
                <a:solidFill>
                  <a:srgbClr val="3C4346"/>
                </a:solidFill>
              </a:rPr>
              <a:t>Still the most common list, because nothing beats it for speed of capture. No order, no memory of what she usually buys, and nothing to say when the shelf is empty.</a:t>
            </a:r>
            <a:endParaRPr lang="en-US" sz="950" dirty="0"/>
          </a:p>
        </p:txBody>
      </p:sp>
      <p:sp>
        <p:nvSpPr>
          <p:cNvPr id="11" name="Shape 9"/>
          <p:cNvSpPr/>
          <p:nvPr/>
        </p:nvSpPr>
        <p:spPr>
          <a:xfrm>
            <a:off x="4315968" y="2377440"/>
            <a:ext cx="3520440" cy="2432304"/>
          </a:xfrm>
          <a:prstGeom prst="roundRect">
            <a:avLst>
              <a:gd name="adj" fmla="val 4511"/>
            </a:avLst>
          </a:prstGeom>
          <a:solidFill>
            <a:srgbClr val="FCE9E3"/>
          </a:solidFill>
          <a:ln w="12700">
            <a:solidFill>
              <a:srgbClr val="FCE9E3"/>
            </a:solidFill>
            <a:prstDash val="solid"/>
          </a:ln>
        </p:spPr>
      </p:sp>
      <p:sp>
        <p:nvSpPr>
          <p:cNvPr id="12" name="Text 10"/>
          <p:cNvSpPr/>
          <p:nvPr/>
        </p:nvSpPr>
        <p:spPr>
          <a:xfrm>
            <a:off x="4526280" y="256032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Generic list apps</a:t>
            </a:r>
            <a:endParaRPr lang="en-US" sz="1100" dirty="0"/>
          </a:p>
        </p:txBody>
      </p:sp>
      <p:sp>
        <p:nvSpPr>
          <p:cNvPr id="13" name="Text 11"/>
          <p:cNvSpPr/>
          <p:nvPr/>
        </p:nvSpPr>
        <p:spPr>
          <a:xfrm>
            <a:off x="4526280" y="2944368"/>
            <a:ext cx="3099816" cy="1719072"/>
          </a:xfrm>
          <a:prstGeom prst="rect">
            <a:avLst/>
          </a:prstGeom>
          <a:noFill/>
          <a:ln/>
        </p:spPr>
        <p:txBody>
          <a:bodyPr wrap="square" lIns="0" tIns="0" rIns="0" bIns="0" rtlCol="0" anchor="t">
            <a:normAutofit/>
          </a:bodyPr>
          <a:lstStyle/>
          <a:p>
            <a:pPr indent="0" marL="0">
              <a:buNone/>
            </a:pPr>
            <a:r>
              <a:rPr lang="en-US" sz="950" dirty="0">
                <a:solidFill>
                  <a:srgbClr val="3C4346"/>
                </a:solidFill>
              </a:rPr>
              <a:t>Sharing, recurring items, categories. The list is the product, so it looks the same standing in aisle 6 as it did on the sofa — the shopper supplies all the ordering and all the recovery.</a:t>
            </a:r>
            <a:endParaRPr lang="en-US" sz="950" dirty="0"/>
          </a:p>
        </p:txBody>
      </p:sp>
      <p:sp>
        <p:nvSpPr>
          <p:cNvPr id="14" name="Shape 12"/>
          <p:cNvSpPr/>
          <p:nvPr/>
        </p:nvSpPr>
        <p:spPr>
          <a:xfrm>
            <a:off x="8065008" y="2377440"/>
            <a:ext cx="3520440" cy="2432304"/>
          </a:xfrm>
          <a:prstGeom prst="roundRect">
            <a:avLst>
              <a:gd name="adj" fmla="val 4511"/>
            </a:avLst>
          </a:prstGeom>
          <a:solidFill>
            <a:srgbClr val="E8F4FA"/>
          </a:solidFill>
          <a:ln w="12700">
            <a:solidFill>
              <a:srgbClr val="E8F4FA"/>
            </a:solidFill>
            <a:prstDash val="solid"/>
          </a:ln>
        </p:spPr>
      </p:sp>
      <p:sp>
        <p:nvSpPr>
          <p:cNvPr id="15" name="Text 13"/>
          <p:cNvSpPr/>
          <p:nvPr/>
        </p:nvSpPr>
        <p:spPr>
          <a:xfrm>
            <a:off x="8275320" y="256032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Supermarket own apps</a:t>
            </a:r>
            <a:endParaRPr lang="en-US" sz="1100" dirty="0"/>
          </a:p>
        </p:txBody>
      </p:sp>
      <p:sp>
        <p:nvSpPr>
          <p:cNvPr id="16" name="Text 14"/>
          <p:cNvSpPr/>
          <p:nvPr/>
        </p:nvSpPr>
        <p:spPr>
          <a:xfrm>
            <a:off x="8275320" y="2944368"/>
            <a:ext cx="3099816" cy="1719072"/>
          </a:xfrm>
          <a:prstGeom prst="rect">
            <a:avLst/>
          </a:prstGeom>
          <a:noFill/>
          <a:ln/>
        </p:spPr>
        <p:txBody>
          <a:bodyPr wrap="square" lIns="0" tIns="0" rIns="0" bIns="0" rtlCol="0" anchor="t">
            <a:normAutofit/>
          </a:bodyPr>
          <a:lstStyle/>
          <a:p>
            <a:pPr indent="0" marL="0">
              <a:buNone/>
            </a:pPr>
            <a:r>
              <a:rPr lang="en-US" sz="950" dirty="0">
                <a:solidFill>
                  <a:srgbClr val="3C4346"/>
                </a:solidFill>
              </a:rPr>
              <a:t>Real catalogue and real prices, built around the basket and the offer. Branch-level aisle order is rarely exposed, and the screen is competing for attention with promotions.</a:t>
            </a:r>
            <a:endParaRPr lang="en-US" sz="950" dirty="0"/>
          </a:p>
        </p:txBody>
      </p:sp>
      <p:sp>
        <p:nvSpPr>
          <p:cNvPr id="17" name="Text 15"/>
          <p:cNvSpPr/>
          <p:nvPr/>
        </p:nvSpPr>
        <p:spPr>
          <a:xfrm>
            <a:off x="621792" y="5440680"/>
            <a:ext cx="10058400" cy="256032"/>
          </a:xfrm>
          <a:prstGeom prst="rect">
            <a:avLst/>
          </a:prstGeom>
          <a:noFill/>
          <a:ln/>
        </p:spPr>
        <p:txBody>
          <a:bodyPr wrap="square" lIns="0" tIns="0" rIns="0" bIns="0" rtlCol="0" anchor="ctr"/>
          <a:lstStyle/>
          <a:p>
            <a:pPr indent="0" marL="0">
              <a:buNone/>
            </a:pPr>
            <a:r>
              <a:rPr lang="en-US" sz="1300" b="1" dirty="0">
                <a:solidFill>
                  <a:srgbClr val="14161A"/>
                </a:solidFill>
              </a:rPr>
              <a:t>All three treat shopping as retrieval. None of them help with the decision in front of an empty shelf.</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04</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TARGET SHOPPER</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Sarah: a repeat shopper with a regular branch.</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A concrete persona makes the product’s useful signal—and its limits—clear.</a:t>
            </a:r>
            <a:endParaRPr lang="en-US" sz="1200" dirty="0"/>
          </a:p>
        </p:txBody>
      </p:sp>
      <p:sp>
        <p:nvSpPr>
          <p:cNvPr id="8" name="Shape 6"/>
          <p:cNvSpPr/>
          <p:nvPr/>
        </p:nvSpPr>
        <p:spPr>
          <a:xfrm>
            <a:off x="685800" y="2377440"/>
            <a:ext cx="2011680" cy="2011680"/>
          </a:xfrm>
          <a:prstGeom prst="ellipse">
            <a:avLst/>
          </a:prstGeom>
          <a:solidFill>
            <a:srgbClr val="D8F05A"/>
          </a:solidFill>
          <a:ln w="12700">
            <a:solidFill>
              <a:srgbClr val="D8F05A"/>
            </a:solidFill>
            <a:prstDash val="solid"/>
          </a:ln>
        </p:spPr>
      </p:sp>
      <p:sp>
        <p:nvSpPr>
          <p:cNvPr id="9" name="Text 7"/>
          <p:cNvSpPr/>
          <p:nvPr/>
        </p:nvSpPr>
        <p:spPr>
          <a:xfrm>
            <a:off x="941832" y="3145536"/>
            <a:ext cx="1508760" cy="228600"/>
          </a:xfrm>
          <a:prstGeom prst="rect">
            <a:avLst/>
          </a:prstGeom>
          <a:noFill/>
          <a:ln/>
        </p:spPr>
        <p:txBody>
          <a:bodyPr wrap="square" lIns="0" tIns="0" rIns="0" bIns="0" rtlCol="0" anchor="ctr"/>
          <a:lstStyle/>
          <a:p>
            <a:pPr algn="ctr" indent="0" marL="0">
              <a:buNone/>
            </a:pPr>
            <a:r>
              <a:rPr lang="en-US" sz="1300" b="1" dirty="0">
                <a:solidFill>
                  <a:srgbClr val="000000"/>
                </a:solidFill>
              </a:rPr>
              <a:t>SARAH</a:t>
            </a:r>
            <a:endParaRPr lang="en-US" sz="1300" dirty="0"/>
          </a:p>
        </p:txBody>
      </p:sp>
      <p:sp>
        <p:nvSpPr>
          <p:cNvPr id="10" name="Shape 8"/>
          <p:cNvSpPr/>
          <p:nvPr/>
        </p:nvSpPr>
        <p:spPr>
          <a:xfrm>
            <a:off x="3154680" y="2267712"/>
            <a:ext cx="2514600" cy="2514600"/>
          </a:xfrm>
          <a:prstGeom prst="roundRect">
            <a:avLst>
              <a:gd name="adj" fmla="val 4364"/>
            </a:avLst>
          </a:prstGeom>
          <a:solidFill>
            <a:srgbClr val="E9ECE5"/>
          </a:solidFill>
          <a:ln w="12700">
            <a:solidFill>
              <a:srgbClr val="E9ECE5"/>
            </a:solidFill>
            <a:prstDash val="solid"/>
          </a:ln>
        </p:spPr>
      </p:sp>
      <p:sp>
        <p:nvSpPr>
          <p:cNvPr id="11" name="Text 9"/>
          <p:cNvSpPr/>
          <p:nvPr/>
        </p:nvSpPr>
        <p:spPr>
          <a:xfrm>
            <a:off x="3364992" y="2450592"/>
            <a:ext cx="2093976" cy="274320"/>
          </a:xfrm>
          <a:prstGeom prst="rect">
            <a:avLst/>
          </a:prstGeom>
          <a:noFill/>
          <a:ln/>
        </p:spPr>
        <p:txBody>
          <a:bodyPr wrap="square" lIns="0" tIns="0" rIns="0" bIns="0" rtlCol="0" anchor="ctr"/>
          <a:lstStyle/>
          <a:p>
            <a:pPr indent="0" marL="0">
              <a:buNone/>
            </a:pPr>
            <a:r>
              <a:rPr lang="en-US" sz="1100" b="1" dirty="0">
                <a:solidFill>
                  <a:srgbClr val="14161A"/>
                </a:solidFill>
              </a:rPr>
              <a:t>Behaviour</a:t>
            </a:r>
            <a:endParaRPr lang="en-US" sz="1100" dirty="0"/>
          </a:p>
        </p:txBody>
      </p:sp>
      <p:sp>
        <p:nvSpPr>
          <p:cNvPr id="12" name="Text 10"/>
          <p:cNvSpPr/>
          <p:nvPr/>
        </p:nvSpPr>
        <p:spPr>
          <a:xfrm>
            <a:off x="3364992" y="2834640"/>
            <a:ext cx="2093976" cy="1801368"/>
          </a:xfrm>
          <a:prstGeom prst="rect">
            <a:avLst/>
          </a:prstGeom>
          <a:noFill/>
          <a:ln/>
        </p:spPr>
        <p:txBody>
          <a:bodyPr wrap="square" lIns="0" tIns="0" rIns="0" bIns="0" rtlCol="0" anchor="t">
            <a:normAutofit/>
          </a:bodyPr>
          <a:lstStyle/>
          <a:p>
            <a:pPr indent="0" marL="0">
              <a:buNone/>
            </a:pPr>
            <a:r>
              <a:rPr lang="en-US" sz="950" dirty="0">
                <a:solidFill>
                  <a:srgbClr val="3C4346"/>
                </a:solidFill>
              </a:rPr>
              <a:t>• Big shop every two weeks</a:t>
            </a:r>
            <a:endParaRPr lang="en-US" sz="950" dirty="0"/>
          </a:p>
          <a:p>
            <a:pPr indent="0" marL="0">
              <a:buNone/>
            </a:pPr>
            <a:r>
              <a:rPr lang="en-US" sz="950" dirty="0">
                <a:solidFill>
                  <a:srgbClr val="3C4346"/>
                </a:solidFill>
              </a:rPr>
              <a:t>• Small top-up midweek</a:t>
            </a:r>
            <a:endParaRPr lang="en-US" sz="950" dirty="0"/>
          </a:p>
          <a:p>
            <a:pPr indent="0" marL="0">
              <a:buNone/>
            </a:pPr>
            <a:r>
              <a:rPr lang="en-US" sz="950" dirty="0">
                <a:solidFill>
                  <a:srgbClr val="3C4346"/>
                </a:solidFill>
              </a:rPr>
              <a:t>• Usually shops at one branch</a:t>
            </a:r>
            <a:endParaRPr lang="en-US" sz="950" dirty="0"/>
          </a:p>
        </p:txBody>
      </p:sp>
      <p:sp>
        <p:nvSpPr>
          <p:cNvPr id="13" name="Shape 11"/>
          <p:cNvSpPr/>
          <p:nvPr/>
        </p:nvSpPr>
        <p:spPr>
          <a:xfrm>
            <a:off x="5925312" y="2267712"/>
            <a:ext cx="2514600" cy="2514600"/>
          </a:xfrm>
          <a:prstGeom prst="roundRect">
            <a:avLst>
              <a:gd name="adj" fmla="val 4364"/>
            </a:avLst>
          </a:prstGeom>
          <a:solidFill>
            <a:srgbClr val="E8F4FA"/>
          </a:solidFill>
          <a:ln w="12700">
            <a:solidFill>
              <a:srgbClr val="E8F4FA"/>
            </a:solidFill>
            <a:prstDash val="solid"/>
          </a:ln>
        </p:spPr>
      </p:sp>
      <p:sp>
        <p:nvSpPr>
          <p:cNvPr id="14" name="Text 12"/>
          <p:cNvSpPr/>
          <p:nvPr/>
        </p:nvSpPr>
        <p:spPr>
          <a:xfrm>
            <a:off x="6135624" y="2450592"/>
            <a:ext cx="2093976" cy="274320"/>
          </a:xfrm>
          <a:prstGeom prst="rect">
            <a:avLst/>
          </a:prstGeom>
          <a:noFill/>
          <a:ln/>
        </p:spPr>
        <p:txBody>
          <a:bodyPr wrap="square" lIns="0" tIns="0" rIns="0" bIns="0" rtlCol="0" anchor="ctr"/>
          <a:lstStyle/>
          <a:p>
            <a:pPr indent="0" marL="0">
              <a:buNone/>
            </a:pPr>
            <a:r>
              <a:rPr lang="en-US" sz="1100" b="1" dirty="0">
                <a:solidFill>
                  <a:srgbClr val="14161A"/>
                </a:solidFill>
              </a:rPr>
              <a:t>Need</a:t>
            </a:r>
            <a:endParaRPr lang="en-US" sz="1100" dirty="0"/>
          </a:p>
        </p:txBody>
      </p:sp>
      <p:sp>
        <p:nvSpPr>
          <p:cNvPr id="15" name="Text 13"/>
          <p:cNvSpPr/>
          <p:nvPr/>
        </p:nvSpPr>
        <p:spPr>
          <a:xfrm>
            <a:off x="6135624" y="2834640"/>
            <a:ext cx="2093976" cy="1801368"/>
          </a:xfrm>
          <a:prstGeom prst="rect">
            <a:avLst/>
          </a:prstGeom>
          <a:noFill/>
          <a:ln/>
        </p:spPr>
        <p:txBody>
          <a:bodyPr wrap="square" lIns="0" tIns="0" rIns="0" bIns="0" rtlCol="0" anchor="t">
            <a:normAutofit/>
          </a:bodyPr>
          <a:lstStyle/>
          <a:p>
            <a:pPr indent="0" marL="0">
              <a:buNone/>
            </a:pPr>
            <a:r>
              <a:rPr lang="en-US" sz="950" dirty="0">
                <a:solidFill>
                  <a:srgbClr val="3C4346"/>
                </a:solidFill>
              </a:rPr>
              <a:t>• A familiar, quick route</a:t>
            </a:r>
            <a:endParaRPr lang="en-US" sz="950" dirty="0"/>
          </a:p>
          <a:p>
            <a:pPr indent="0" marL="0">
              <a:buNone/>
            </a:pPr>
            <a:r>
              <a:rPr lang="en-US" sz="950" dirty="0">
                <a:solidFill>
                  <a:srgbClr val="3C4346"/>
                </a:solidFill>
              </a:rPr>
              <a:t>• Reminders with reasons</a:t>
            </a:r>
            <a:endParaRPr lang="en-US" sz="950" dirty="0"/>
          </a:p>
          <a:p>
            <a:pPr indent="0" marL="0">
              <a:buNone/>
            </a:pPr>
            <a:r>
              <a:rPr lang="en-US" sz="950" dirty="0">
                <a:solidFill>
                  <a:srgbClr val="3C4346"/>
                </a:solidFill>
              </a:rPr>
              <a:t>• Low-effort recovery when stock is missing</a:t>
            </a:r>
            <a:endParaRPr lang="en-US" sz="950" dirty="0"/>
          </a:p>
        </p:txBody>
      </p:sp>
      <p:sp>
        <p:nvSpPr>
          <p:cNvPr id="16" name="Shape 14"/>
          <p:cNvSpPr/>
          <p:nvPr/>
        </p:nvSpPr>
        <p:spPr>
          <a:xfrm>
            <a:off x="8686800" y="2267712"/>
            <a:ext cx="2514600" cy="2514600"/>
          </a:xfrm>
          <a:prstGeom prst="roundRect">
            <a:avLst>
              <a:gd name="adj" fmla="val 4364"/>
            </a:avLst>
          </a:prstGeom>
          <a:solidFill>
            <a:srgbClr val="FCE9E3"/>
          </a:solidFill>
          <a:ln w="12700">
            <a:solidFill>
              <a:srgbClr val="FCE9E3"/>
            </a:solidFill>
            <a:prstDash val="solid"/>
          </a:ln>
        </p:spPr>
      </p:sp>
      <p:sp>
        <p:nvSpPr>
          <p:cNvPr id="17" name="Text 15"/>
          <p:cNvSpPr/>
          <p:nvPr/>
        </p:nvSpPr>
        <p:spPr>
          <a:xfrm>
            <a:off x="8897112" y="2450592"/>
            <a:ext cx="2093976" cy="274320"/>
          </a:xfrm>
          <a:prstGeom prst="rect">
            <a:avLst/>
          </a:prstGeom>
          <a:noFill/>
          <a:ln/>
        </p:spPr>
        <p:txBody>
          <a:bodyPr wrap="square" lIns="0" tIns="0" rIns="0" bIns="0" rtlCol="0" anchor="ctr"/>
          <a:lstStyle/>
          <a:p>
            <a:pPr indent="0" marL="0">
              <a:buNone/>
            </a:pPr>
            <a:r>
              <a:rPr lang="en-US" sz="1100" b="1" dirty="0">
                <a:solidFill>
                  <a:srgbClr val="14161A"/>
                </a:solidFill>
              </a:rPr>
              <a:t>Constraint</a:t>
            </a:r>
            <a:endParaRPr lang="en-US" sz="1100" dirty="0"/>
          </a:p>
        </p:txBody>
      </p:sp>
      <p:sp>
        <p:nvSpPr>
          <p:cNvPr id="18" name="Text 16"/>
          <p:cNvSpPr/>
          <p:nvPr/>
        </p:nvSpPr>
        <p:spPr>
          <a:xfrm>
            <a:off x="8897112" y="2834640"/>
            <a:ext cx="2093976" cy="1801368"/>
          </a:xfrm>
          <a:prstGeom prst="rect">
            <a:avLst/>
          </a:prstGeom>
          <a:noFill/>
          <a:ln/>
        </p:spPr>
        <p:txBody>
          <a:bodyPr wrap="square" lIns="0" tIns="0" rIns="0" bIns="0" rtlCol="0" anchor="t">
            <a:normAutofit/>
          </a:bodyPr>
          <a:lstStyle/>
          <a:p>
            <a:pPr indent="0" marL="0">
              <a:buNone/>
            </a:pPr>
            <a:r>
              <a:rPr lang="en-US" sz="950" dirty="0">
                <a:solidFill>
                  <a:srgbClr val="3C4346"/>
                </a:solidFill>
              </a:rPr>
              <a:t>• Some items cannot be casually substituted</a:t>
            </a:r>
            <a:endParaRPr lang="en-US" sz="950" dirty="0"/>
          </a:p>
          <a:p>
            <a:pPr indent="0" marL="0">
              <a:buNone/>
            </a:pPr>
            <a:r>
              <a:rPr lang="en-US" sz="950" dirty="0">
                <a:solidFill>
                  <a:srgbClr val="3C4346"/>
                </a:solidFill>
              </a:rPr>
              <a:t>• Connectivity may be weak in-store</a:t>
            </a:r>
            <a:endParaRPr lang="en-US" sz="950" dirty="0"/>
          </a:p>
        </p:txBody>
      </p:sp>
      <p:sp>
        <p:nvSpPr>
          <p:cNvPr id="19" name="Text 17"/>
          <p:cNvSpPr/>
          <p:nvPr/>
        </p:nvSpPr>
        <p:spPr>
          <a:xfrm>
            <a:off x="640080" y="5230368"/>
            <a:ext cx="1097280" cy="182880"/>
          </a:xfrm>
          <a:prstGeom prst="rect">
            <a:avLst/>
          </a:prstGeom>
          <a:noFill/>
          <a:ln/>
        </p:spPr>
        <p:txBody>
          <a:bodyPr wrap="square" lIns="0" tIns="0" rIns="0" bIns="0" rtlCol="0" anchor="ctr"/>
          <a:lstStyle/>
          <a:p>
            <a:pPr indent="0" marL="0">
              <a:buNone/>
            </a:pPr>
            <a:r>
              <a:rPr lang="en-US" sz="800" b="1" spc="140" kern="0" dirty="0">
                <a:solidFill>
                  <a:srgbClr val="697078"/>
                </a:solidFill>
              </a:rPr>
              <a:t>Research note</a:t>
            </a:r>
            <a:endParaRPr lang="en-US" sz="800" dirty="0"/>
          </a:p>
        </p:txBody>
      </p:sp>
      <p:sp>
        <p:nvSpPr>
          <p:cNvPr id="20" name="Text 18"/>
          <p:cNvSpPr/>
          <p:nvPr/>
        </p:nvSpPr>
        <p:spPr>
          <a:xfrm>
            <a:off x="640080" y="5504688"/>
            <a:ext cx="10469880" cy="420624"/>
          </a:xfrm>
          <a:prstGeom prst="rect">
            <a:avLst/>
          </a:prstGeom>
          <a:noFill/>
          <a:ln/>
        </p:spPr>
        <p:txBody>
          <a:bodyPr wrap="square" lIns="0" tIns="0" rIns="0" bIns="0" rtlCol="0" anchor="ctr">
            <a:normAutofit/>
          </a:bodyPr>
          <a:lstStyle/>
          <a:p>
            <a:pPr indent="0" marL="0">
              <a:buNone/>
            </a:pPr>
            <a:r>
              <a:rPr lang="en-US" sz="1050" dirty="0">
                <a:solidFill>
                  <a:srgbClr val="697078"/>
                </a:solidFill>
              </a:rPr>
              <a:t>This case-study prototype uses a reasoned persona and seeded history. It does not claim the demo data is real user research; validating the assumptions with repeat shoppers is the next step.</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4161A"/>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364047"/>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A5ADB1"/>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A5ADB1"/>
                </a:solidFill>
              </a:rPr>
              <a:t>05</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D8F05A"/>
                </a:solidFill>
              </a:rPr>
              <a:t>PRODUCT INSPIRATION</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FBFAF4"/>
                </a:solidFill>
              </a:rPr>
              <a:t>A shopping list should change mode when the shopper enters the store.</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CDD2D0"/>
                </a:solidFill>
              </a:rPr>
              <a:t>Planning is a list-management task. Shopping is a navigation and decision-support task.</a:t>
            </a:r>
            <a:endParaRPr lang="en-US" sz="1200" dirty="0"/>
          </a:p>
        </p:txBody>
      </p:sp>
      <p:sp>
        <p:nvSpPr>
          <p:cNvPr id="8" name="Shape 6"/>
          <p:cNvSpPr/>
          <p:nvPr/>
        </p:nvSpPr>
        <p:spPr>
          <a:xfrm>
            <a:off x="658368" y="2468880"/>
            <a:ext cx="4983480" cy="2423160"/>
          </a:xfrm>
          <a:prstGeom prst="roundRect">
            <a:avLst>
              <a:gd name="adj" fmla="val 6792"/>
            </a:avLst>
          </a:prstGeom>
          <a:solidFill>
            <a:srgbClr val="20262B"/>
          </a:solidFill>
          <a:ln w="12700">
            <a:solidFill>
              <a:srgbClr val="20262B"/>
            </a:solidFill>
            <a:prstDash val="solid"/>
          </a:ln>
        </p:spPr>
      </p:sp>
      <p:sp>
        <p:nvSpPr>
          <p:cNvPr id="9" name="Text 7"/>
          <p:cNvSpPr/>
          <p:nvPr/>
        </p:nvSpPr>
        <p:spPr>
          <a:xfrm>
            <a:off x="932688" y="2779776"/>
            <a:ext cx="3291840" cy="201168"/>
          </a:xfrm>
          <a:prstGeom prst="rect">
            <a:avLst/>
          </a:prstGeom>
          <a:noFill/>
          <a:ln/>
        </p:spPr>
        <p:txBody>
          <a:bodyPr wrap="square" lIns="0" tIns="0" rIns="0" bIns="0" rtlCol="0" anchor="ctr"/>
          <a:lstStyle/>
          <a:p>
            <a:pPr indent="0" marL="0">
              <a:buNone/>
            </a:pPr>
            <a:r>
              <a:rPr lang="en-US" sz="800" b="1" spc="150" kern="0" dirty="0">
                <a:solidFill>
                  <a:srgbClr val="D8F05A"/>
                </a:solidFill>
              </a:rPr>
              <a:t>BEFORE THE SHOP</a:t>
            </a:r>
            <a:endParaRPr lang="en-US" sz="800" dirty="0"/>
          </a:p>
        </p:txBody>
      </p:sp>
      <p:sp>
        <p:nvSpPr>
          <p:cNvPr id="10" name="Text 8"/>
          <p:cNvSpPr/>
          <p:nvPr/>
        </p:nvSpPr>
        <p:spPr>
          <a:xfrm>
            <a:off x="932688" y="3182112"/>
            <a:ext cx="3200400" cy="640080"/>
          </a:xfrm>
          <a:prstGeom prst="rect">
            <a:avLst/>
          </a:prstGeom>
          <a:noFill/>
          <a:ln/>
        </p:spPr>
        <p:txBody>
          <a:bodyPr wrap="square" lIns="0" tIns="0" rIns="0" bIns="0" rtlCol="0" anchor="ctr"/>
          <a:lstStyle/>
          <a:p>
            <a:pPr indent="0" marL="0">
              <a:buNone/>
            </a:pPr>
            <a:r>
              <a:rPr lang="en-US" sz="2300" b="1" dirty="0">
                <a:solidFill>
                  <a:srgbClr val="FBFAF4"/>
                </a:solidFill>
              </a:rPr>
              <a:t>A calm list</a:t>
            </a:r>
            <a:endParaRPr lang="en-US" sz="2300" dirty="0"/>
          </a:p>
          <a:p>
            <a:pPr indent="0" marL="0">
              <a:buNone/>
            </a:pPr>
            <a:r>
              <a:rPr lang="en-US" sz="2300" b="1" dirty="0">
                <a:solidFill>
                  <a:srgbClr val="FBFAF4"/>
                </a:solidFill>
              </a:rPr>
              <a:t>with suggestions</a:t>
            </a:r>
            <a:endParaRPr lang="en-US" sz="2300" dirty="0"/>
          </a:p>
        </p:txBody>
      </p:sp>
      <p:sp>
        <p:nvSpPr>
          <p:cNvPr id="11" name="Text 9"/>
          <p:cNvSpPr/>
          <p:nvPr/>
        </p:nvSpPr>
        <p:spPr>
          <a:xfrm>
            <a:off x="932688" y="4187952"/>
            <a:ext cx="3108960" cy="228600"/>
          </a:xfrm>
          <a:prstGeom prst="rect">
            <a:avLst/>
          </a:prstGeom>
          <a:noFill/>
          <a:ln/>
        </p:spPr>
        <p:txBody>
          <a:bodyPr wrap="square" lIns="0" tIns="0" rIns="0" bIns="0" rtlCol="0" anchor="ctr"/>
          <a:lstStyle/>
          <a:p>
            <a:pPr indent="0" marL="0">
              <a:buNone/>
            </a:pPr>
            <a:r>
              <a:rPr lang="en-US" sz="1000" dirty="0">
                <a:solidFill>
                  <a:srgbClr val="C9CFCC"/>
                </a:solidFill>
              </a:rPr>
              <a:t>Add, remove, review, and prepare.</a:t>
            </a:r>
            <a:endParaRPr lang="en-US" sz="1000" dirty="0"/>
          </a:p>
        </p:txBody>
      </p:sp>
      <p:sp>
        <p:nvSpPr>
          <p:cNvPr id="12" name="Shape 10"/>
          <p:cNvSpPr/>
          <p:nvPr/>
        </p:nvSpPr>
        <p:spPr>
          <a:xfrm>
            <a:off x="5870448" y="3291840"/>
            <a:ext cx="438912" cy="640080"/>
          </a:xfrm>
          <a:prstGeom prst="chevron">
            <a:avLst/>
          </a:prstGeom>
          <a:solidFill>
            <a:srgbClr val="D8F05A"/>
          </a:solidFill>
          <a:ln w="12700">
            <a:solidFill>
              <a:srgbClr val="D8F05A"/>
            </a:solidFill>
            <a:prstDash val="solid"/>
          </a:ln>
        </p:spPr>
      </p:sp>
      <p:sp>
        <p:nvSpPr>
          <p:cNvPr id="13" name="Shape 11"/>
          <p:cNvSpPr/>
          <p:nvPr/>
        </p:nvSpPr>
        <p:spPr>
          <a:xfrm>
            <a:off x="6565392" y="2468880"/>
            <a:ext cx="4983480" cy="2423160"/>
          </a:xfrm>
          <a:prstGeom prst="roundRect">
            <a:avLst>
              <a:gd name="adj" fmla="val 6792"/>
            </a:avLst>
          </a:prstGeom>
          <a:solidFill>
            <a:srgbClr val="D8F05A"/>
          </a:solidFill>
          <a:ln w="12700">
            <a:solidFill>
              <a:srgbClr val="D8F05A"/>
            </a:solidFill>
            <a:prstDash val="solid"/>
          </a:ln>
        </p:spPr>
      </p:sp>
      <p:sp>
        <p:nvSpPr>
          <p:cNvPr id="14" name="Text 12"/>
          <p:cNvSpPr/>
          <p:nvPr/>
        </p:nvSpPr>
        <p:spPr>
          <a:xfrm>
            <a:off x="6839712" y="2779776"/>
            <a:ext cx="3291840" cy="201168"/>
          </a:xfrm>
          <a:prstGeom prst="rect">
            <a:avLst/>
          </a:prstGeom>
          <a:noFill/>
          <a:ln/>
        </p:spPr>
        <p:txBody>
          <a:bodyPr wrap="square" lIns="0" tIns="0" rIns="0" bIns="0" rtlCol="0" anchor="ctr"/>
          <a:lstStyle/>
          <a:p>
            <a:pPr indent="0" marL="0">
              <a:buNone/>
            </a:pPr>
            <a:r>
              <a:rPr lang="en-US" sz="800" b="1" spc="150" kern="0" dirty="0">
                <a:solidFill>
                  <a:srgbClr val="14161A"/>
                </a:solidFill>
              </a:rPr>
              <a:t>INSIDE THE SHOP</a:t>
            </a:r>
            <a:endParaRPr lang="en-US" sz="800" dirty="0"/>
          </a:p>
        </p:txBody>
      </p:sp>
      <p:sp>
        <p:nvSpPr>
          <p:cNvPr id="15" name="Text 13"/>
          <p:cNvSpPr/>
          <p:nvPr/>
        </p:nvSpPr>
        <p:spPr>
          <a:xfrm>
            <a:off x="6839712" y="3182112"/>
            <a:ext cx="3200400" cy="640080"/>
          </a:xfrm>
          <a:prstGeom prst="rect">
            <a:avLst/>
          </a:prstGeom>
          <a:noFill/>
          <a:ln/>
        </p:spPr>
        <p:txBody>
          <a:bodyPr wrap="square" lIns="0" tIns="0" rIns="0" bIns="0" rtlCol="0" anchor="ctr"/>
          <a:lstStyle/>
          <a:p>
            <a:pPr indent="0" marL="0">
              <a:buNone/>
            </a:pPr>
            <a:r>
              <a:rPr lang="en-US" sz="2300" b="1" dirty="0">
                <a:solidFill>
                  <a:srgbClr val="14161A"/>
                </a:solidFill>
              </a:rPr>
              <a:t>One next item</a:t>
            </a:r>
            <a:endParaRPr lang="en-US" sz="2300" dirty="0"/>
          </a:p>
          <a:p>
            <a:pPr indent="0" marL="0">
              <a:buNone/>
            </a:pPr>
            <a:r>
              <a:rPr lang="en-US" sz="2300" b="1" dirty="0">
                <a:solidFill>
                  <a:srgbClr val="14161A"/>
                </a:solidFill>
              </a:rPr>
              <a:t>at a time</a:t>
            </a:r>
            <a:endParaRPr lang="en-US" sz="2300" dirty="0"/>
          </a:p>
        </p:txBody>
      </p:sp>
      <p:sp>
        <p:nvSpPr>
          <p:cNvPr id="16" name="Text 14"/>
          <p:cNvSpPr/>
          <p:nvPr/>
        </p:nvSpPr>
        <p:spPr>
          <a:xfrm>
            <a:off x="6839712" y="4187952"/>
            <a:ext cx="3566160" cy="228600"/>
          </a:xfrm>
          <a:prstGeom prst="rect">
            <a:avLst/>
          </a:prstGeom>
          <a:noFill/>
          <a:ln/>
        </p:spPr>
        <p:txBody>
          <a:bodyPr wrap="square" lIns="0" tIns="0" rIns="0" bIns="0" rtlCol="0" anchor="ctr"/>
          <a:lstStyle/>
          <a:p>
            <a:pPr indent="0" marL="0">
              <a:buNone/>
            </a:pPr>
            <a:r>
              <a:rPr lang="en-US" sz="1000" dirty="0">
                <a:solidFill>
                  <a:srgbClr val="334047"/>
                </a:solidFill>
              </a:rPr>
              <a:t>Move forward, resolve gaps, finish cleanly.</a:t>
            </a:r>
            <a:endParaRPr lang="en-US" sz="1000" dirty="0"/>
          </a:p>
        </p:txBody>
      </p:sp>
      <p:sp>
        <p:nvSpPr>
          <p:cNvPr id="17" name="Text 15"/>
          <p:cNvSpPr/>
          <p:nvPr/>
        </p:nvSpPr>
        <p:spPr>
          <a:xfrm>
            <a:off x="685800" y="5148072"/>
            <a:ext cx="320040" cy="411480"/>
          </a:xfrm>
          <a:prstGeom prst="rect">
            <a:avLst/>
          </a:prstGeom>
          <a:noFill/>
          <a:ln/>
        </p:spPr>
        <p:txBody>
          <a:bodyPr wrap="square" lIns="0" tIns="0" rIns="0" bIns="0" rtlCol="0" anchor="ctr"/>
          <a:lstStyle/>
          <a:p>
            <a:pPr indent="0" marL="0">
              <a:buNone/>
            </a:pPr>
            <a:r>
              <a:rPr lang="en-US" sz="3200" dirty="0">
                <a:solidFill>
                  <a:srgbClr val="D8F05A"/>
                </a:solidFill>
              </a:rPr>
              <a:t>“</a:t>
            </a:r>
            <a:endParaRPr lang="en-US" sz="3200" dirty="0"/>
          </a:p>
        </p:txBody>
      </p:sp>
      <p:sp>
        <p:nvSpPr>
          <p:cNvPr id="18" name="Text 16"/>
          <p:cNvSpPr/>
          <p:nvPr/>
        </p:nvSpPr>
        <p:spPr>
          <a:xfrm>
            <a:off x="1051560" y="5376672"/>
            <a:ext cx="8321040" cy="777240"/>
          </a:xfrm>
          <a:prstGeom prst="rect">
            <a:avLst/>
          </a:prstGeom>
          <a:noFill/>
          <a:ln/>
        </p:spPr>
        <p:txBody>
          <a:bodyPr wrap="square" lIns="0" tIns="0" rIns="0" bIns="0" rtlCol="0" anchor="ctr">
            <a:normAutofit/>
          </a:bodyPr>
          <a:lstStyle/>
          <a:p>
            <a:pPr indent="0" marL="0">
              <a:buNone/>
            </a:pPr>
            <a:r>
              <a:rPr lang="en-US" sz="1900" b="1" dirty="0">
                <a:solidFill>
                  <a:srgbClr val="FBFAF4"/>
                </a:solidFill>
              </a:rPr>
              <a:t>This mode change is Sweep’s main product decision.</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06</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HOW I PRIORITISED</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One rule: does it help inside the shop?</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Everything competed for the same scarce thing — a shopper’s attention while pushing a trolley. That rule decided the build order, and it decided the cuts.</a:t>
            </a:r>
            <a:endParaRPr lang="en-US" sz="1200" dirty="0"/>
          </a:p>
        </p:txBody>
      </p:sp>
      <p:sp>
        <p:nvSpPr>
          <p:cNvPr id="8" name="Shape 6"/>
          <p:cNvSpPr/>
          <p:nvPr/>
        </p:nvSpPr>
        <p:spPr>
          <a:xfrm>
            <a:off x="594360" y="2395728"/>
            <a:ext cx="5166360" cy="2468880"/>
          </a:xfrm>
          <a:prstGeom prst="roundRect">
            <a:avLst>
              <a:gd name="adj" fmla="val 4444"/>
            </a:avLst>
          </a:prstGeom>
          <a:solidFill>
            <a:srgbClr val="E9ECE5"/>
          </a:solidFill>
          <a:ln w="12700">
            <a:solidFill>
              <a:srgbClr val="E9ECE5"/>
            </a:solidFill>
            <a:prstDash val="solid"/>
          </a:ln>
        </p:spPr>
      </p:sp>
      <p:sp>
        <p:nvSpPr>
          <p:cNvPr id="9" name="Text 7"/>
          <p:cNvSpPr/>
          <p:nvPr/>
        </p:nvSpPr>
        <p:spPr>
          <a:xfrm>
            <a:off x="804672" y="2578608"/>
            <a:ext cx="4745736" cy="274320"/>
          </a:xfrm>
          <a:prstGeom prst="rect">
            <a:avLst/>
          </a:prstGeom>
          <a:noFill/>
          <a:ln/>
        </p:spPr>
        <p:txBody>
          <a:bodyPr wrap="square" lIns="0" tIns="0" rIns="0" bIns="0" rtlCol="0" anchor="ctr"/>
          <a:lstStyle/>
          <a:p>
            <a:pPr indent="0" marL="0">
              <a:buNone/>
            </a:pPr>
            <a:r>
              <a:rPr lang="en-US" sz="1100" b="1" dirty="0">
                <a:solidFill>
                  <a:srgbClr val="14161A"/>
                </a:solidFill>
              </a:rPr>
              <a:t>Built, in this order</a:t>
            </a:r>
            <a:endParaRPr lang="en-US" sz="1100" dirty="0"/>
          </a:p>
        </p:txBody>
      </p:sp>
      <p:sp>
        <p:nvSpPr>
          <p:cNvPr id="10" name="Text 8"/>
          <p:cNvSpPr/>
          <p:nvPr/>
        </p:nvSpPr>
        <p:spPr>
          <a:xfrm>
            <a:off x="804672" y="2962656"/>
            <a:ext cx="4745736" cy="1755648"/>
          </a:xfrm>
          <a:prstGeom prst="rect">
            <a:avLst/>
          </a:prstGeom>
          <a:noFill/>
          <a:ln/>
        </p:spPr>
        <p:txBody>
          <a:bodyPr wrap="square" lIns="0" tIns="0" rIns="0" bIns="0" rtlCol="0" anchor="t">
            <a:normAutofit/>
          </a:bodyPr>
          <a:lstStyle/>
          <a:p>
            <a:pPr indent="0" marL="0">
              <a:buNone/>
            </a:pPr>
            <a:r>
              <a:rPr lang="en-US" sz="950" dirty="0">
                <a:solidFill>
                  <a:srgbClr val="3C4346"/>
                </a:solidFill>
              </a:rPr>
              <a:t>•  1.  Trip mode — one item, aisle order. The reason the app exists.</a:t>
            </a:r>
            <a:endParaRPr lang="en-US" sz="950" dirty="0"/>
          </a:p>
          <a:p>
            <a:pPr indent="0" marL="0">
              <a:buNone/>
            </a:pPr>
            <a:r>
              <a:rPr lang="en-US" sz="950" dirty="0">
                <a:solidFill>
                  <a:srgbClr val="3C4346"/>
                </a:solidFill>
              </a:rPr>
              <a:t>•  2.  Not here — the moment a list fails hardest, and recovers worst.</a:t>
            </a:r>
            <a:endParaRPr lang="en-US" sz="950" dirty="0"/>
          </a:p>
          <a:p>
            <a:pPr indent="0" marL="0">
              <a:buNone/>
            </a:pPr>
            <a:r>
              <a:rPr lang="en-US" sz="950" dirty="0">
                <a:solidFill>
                  <a:srgbClr val="3C4346"/>
                </a:solidFill>
              </a:rPr>
              <a:t>•  3.  Suggestions with reasons — what earns the list its first item.</a:t>
            </a:r>
            <a:endParaRPr lang="en-US" sz="950" dirty="0"/>
          </a:p>
          <a:p>
            <a:pPr indent="0" marL="0">
              <a:buNone/>
            </a:pPr>
            <a:r>
              <a:rPr lang="en-US" sz="950" dirty="0">
                <a:solidFill>
                  <a:srgbClr val="3C4346"/>
                </a:solidFill>
              </a:rPr>
              <a:t>•  4.  Offline and the trolley total — trust, while she is walking.</a:t>
            </a:r>
            <a:endParaRPr lang="en-US" sz="950" dirty="0"/>
          </a:p>
        </p:txBody>
      </p:sp>
      <p:sp>
        <p:nvSpPr>
          <p:cNvPr id="11" name="Shape 9"/>
          <p:cNvSpPr/>
          <p:nvPr/>
        </p:nvSpPr>
        <p:spPr>
          <a:xfrm>
            <a:off x="6053328" y="2395728"/>
            <a:ext cx="5166360" cy="2468880"/>
          </a:xfrm>
          <a:prstGeom prst="roundRect">
            <a:avLst>
              <a:gd name="adj" fmla="val 4444"/>
            </a:avLst>
          </a:prstGeom>
          <a:solidFill>
            <a:srgbClr val="E8F4FA"/>
          </a:solidFill>
          <a:ln w="12700">
            <a:solidFill>
              <a:srgbClr val="E8F4FA"/>
            </a:solidFill>
            <a:prstDash val="solid"/>
          </a:ln>
        </p:spPr>
      </p:sp>
      <p:sp>
        <p:nvSpPr>
          <p:cNvPr id="12" name="Text 10"/>
          <p:cNvSpPr/>
          <p:nvPr/>
        </p:nvSpPr>
        <p:spPr>
          <a:xfrm>
            <a:off x="6263640" y="2578608"/>
            <a:ext cx="4745736" cy="274320"/>
          </a:xfrm>
          <a:prstGeom prst="rect">
            <a:avLst/>
          </a:prstGeom>
          <a:noFill/>
          <a:ln/>
        </p:spPr>
        <p:txBody>
          <a:bodyPr wrap="square" lIns="0" tIns="0" rIns="0" bIns="0" rtlCol="0" anchor="ctr"/>
          <a:lstStyle/>
          <a:p>
            <a:pPr indent="0" marL="0">
              <a:buNone/>
            </a:pPr>
            <a:r>
              <a:rPr lang="en-US" sz="1100" b="1" dirty="0">
                <a:solidFill>
                  <a:srgbClr val="14161A"/>
                </a:solidFill>
              </a:rPr>
              <a:t>Cut, and why</a:t>
            </a:r>
            <a:endParaRPr lang="en-US" sz="1100" dirty="0"/>
          </a:p>
        </p:txBody>
      </p:sp>
      <p:sp>
        <p:nvSpPr>
          <p:cNvPr id="13" name="Text 11"/>
          <p:cNvSpPr/>
          <p:nvPr/>
        </p:nvSpPr>
        <p:spPr>
          <a:xfrm>
            <a:off x="6263640" y="2962656"/>
            <a:ext cx="4745736" cy="1755648"/>
          </a:xfrm>
          <a:prstGeom prst="rect">
            <a:avLst/>
          </a:prstGeom>
          <a:noFill/>
          <a:ln/>
        </p:spPr>
        <p:txBody>
          <a:bodyPr wrap="square" lIns="0" tIns="0" rIns="0" bIns="0" rtlCol="0" anchor="t">
            <a:normAutofit/>
          </a:bodyPr>
          <a:lstStyle/>
          <a:p>
            <a:pPr indent="0" marL="0">
              <a:buNone/>
            </a:pPr>
            <a:r>
              <a:rPr lang="en-US" sz="950" dirty="0">
                <a:solidFill>
                  <a:srgbClr val="3C4346"/>
                </a:solidFill>
              </a:rPr>
              <a:t>•  Accounts and sync — nothing in the trip needs a server to work.</a:t>
            </a:r>
            <a:endParaRPr lang="en-US" sz="950" dirty="0"/>
          </a:p>
          <a:p>
            <a:pPr indent="0" marL="0">
              <a:buNone/>
            </a:pPr>
            <a:r>
              <a:rPr lang="en-US" sz="950" dirty="0">
                <a:solidFill>
                  <a:srgbClr val="3C4346"/>
                </a:solidFill>
              </a:rPr>
              <a:t>•  Barcode scanning — solves finding a product, not deciding on one.</a:t>
            </a:r>
            <a:endParaRPr lang="en-US" sz="950" dirty="0"/>
          </a:p>
          <a:p>
            <a:pPr indent="0" marL="0">
              <a:buNone/>
            </a:pPr>
            <a:r>
              <a:rPr lang="en-US" sz="950" dirty="0">
                <a:solidFill>
                  <a:srgbClr val="3C4346"/>
                </a:solidFill>
              </a:rPr>
              <a:t>•  Recipes and meal planning — a different product, before the door.</a:t>
            </a:r>
            <a:endParaRPr lang="en-US" sz="950" dirty="0"/>
          </a:p>
          <a:p>
            <a:pPr indent="0" marL="0">
              <a:buNone/>
            </a:pPr>
            <a:r>
              <a:rPr lang="en-US" sz="950" dirty="0">
                <a:solidFill>
                  <a:srgbClr val="3C4346"/>
                </a:solidFill>
              </a:rPr>
              <a:t>•  Drag-to-reorder — worse than rotating the route, one-handed.</a:t>
            </a:r>
            <a:endParaRPr lang="en-US" sz="950" dirty="0"/>
          </a:p>
        </p:txBody>
      </p:sp>
      <p:sp>
        <p:nvSpPr>
          <p:cNvPr id="14" name="Text 12"/>
          <p:cNvSpPr/>
          <p:nvPr/>
        </p:nvSpPr>
        <p:spPr>
          <a:xfrm>
            <a:off x="621792" y="5184648"/>
            <a:ext cx="320040" cy="411480"/>
          </a:xfrm>
          <a:prstGeom prst="rect">
            <a:avLst/>
          </a:prstGeom>
          <a:noFill/>
          <a:ln/>
        </p:spPr>
        <p:txBody>
          <a:bodyPr wrap="square" lIns="0" tIns="0" rIns="0" bIns="0" rtlCol="0" anchor="ctr"/>
          <a:lstStyle/>
          <a:p>
            <a:pPr indent="0" marL="0">
              <a:buNone/>
            </a:pPr>
            <a:r>
              <a:rPr lang="en-US" sz="3200" dirty="0">
                <a:solidFill>
                  <a:srgbClr val="D8F05A"/>
                </a:solidFill>
              </a:rPr>
              <a:t>“</a:t>
            </a:r>
            <a:endParaRPr lang="en-US" sz="3200" dirty="0"/>
          </a:p>
        </p:txBody>
      </p:sp>
      <p:sp>
        <p:nvSpPr>
          <p:cNvPr id="15" name="Text 13"/>
          <p:cNvSpPr/>
          <p:nvPr/>
        </p:nvSpPr>
        <p:spPr>
          <a:xfrm>
            <a:off x="987552" y="5413248"/>
            <a:ext cx="9692640" cy="777240"/>
          </a:xfrm>
          <a:prstGeom prst="rect">
            <a:avLst/>
          </a:prstGeom>
          <a:noFill/>
          <a:ln/>
        </p:spPr>
        <p:txBody>
          <a:bodyPr wrap="square" lIns="0" tIns="0" rIns="0" bIns="0" rtlCol="0" anchor="ctr">
            <a:normAutofit/>
          </a:bodyPr>
          <a:lstStyle/>
          <a:p>
            <a:pPr indent="0" marL="0">
              <a:buNone/>
            </a:pPr>
            <a:r>
              <a:rPr lang="en-US" sz="1900" b="1" dirty="0">
                <a:solidFill>
                  <a:srgbClr val="14161A"/>
                </a:solidFill>
              </a:rPr>
              <a:t>Every cut is a feature something else already ships. I would rather defend four that change the trip than twelve that do not.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07</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LIVE WALKTHROUGH</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A four-minute story, from preparation to recovery.</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Use these steps during the product demo rather than trying to show every screen.</a:t>
            </a:r>
            <a:endParaRPr lang="en-US" sz="1200" dirty="0"/>
          </a:p>
        </p:txBody>
      </p:sp>
      <p:sp>
        <p:nvSpPr>
          <p:cNvPr id="8" name="Shape 6"/>
          <p:cNvSpPr/>
          <p:nvPr/>
        </p:nvSpPr>
        <p:spPr>
          <a:xfrm>
            <a:off x="566928" y="2487168"/>
            <a:ext cx="1993392" cy="2468880"/>
          </a:xfrm>
          <a:prstGeom prst="roundRect">
            <a:avLst>
              <a:gd name="adj" fmla="val 7339"/>
            </a:avLst>
          </a:prstGeom>
          <a:solidFill>
            <a:srgbClr val="E9ECE5"/>
          </a:solidFill>
          <a:ln w="12700">
            <a:solidFill>
              <a:srgbClr val="E9ECE5"/>
            </a:solidFill>
            <a:prstDash val="solid"/>
          </a:ln>
        </p:spPr>
      </p:sp>
      <p:sp>
        <p:nvSpPr>
          <p:cNvPr id="9" name="Text 7"/>
          <p:cNvSpPr/>
          <p:nvPr/>
        </p:nvSpPr>
        <p:spPr>
          <a:xfrm>
            <a:off x="749808" y="2724912"/>
            <a:ext cx="365760" cy="182880"/>
          </a:xfrm>
          <a:prstGeom prst="rect">
            <a:avLst/>
          </a:prstGeom>
          <a:noFill/>
          <a:ln/>
        </p:spPr>
        <p:txBody>
          <a:bodyPr wrap="square" lIns="0" tIns="0" rIns="0" bIns="0" rtlCol="0" anchor="ctr"/>
          <a:lstStyle/>
          <a:p>
            <a:pPr indent="0" marL="0">
              <a:buNone/>
            </a:pPr>
            <a:r>
              <a:rPr lang="en-US" sz="800" b="1" spc="120" kern="0" dirty="0">
                <a:solidFill>
                  <a:srgbClr val="697078"/>
                </a:solidFill>
              </a:rPr>
              <a:t>01</a:t>
            </a:r>
            <a:endParaRPr lang="en-US" sz="800" dirty="0"/>
          </a:p>
        </p:txBody>
      </p:sp>
      <p:sp>
        <p:nvSpPr>
          <p:cNvPr id="10" name="Text 8"/>
          <p:cNvSpPr/>
          <p:nvPr/>
        </p:nvSpPr>
        <p:spPr>
          <a:xfrm>
            <a:off x="749808" y="3136392"/>
            <a:ext cx="1618488" cy="329184"/>
          </a:xfrm>
          <a:prstGeom prst="rect">
            <a:avLst/>
          </a:prstGeom>
          <a:noFill/>
          <a:ln/>
        </p:spPr>
        <p:txBody>
          <a:bodyPr wrap="square" lIns="0" tIns="0" rIns="0" bIns="0" rtlCol="0" anchor="ctr">
            <a:normAutofit/>
          </a:bodyPr>
          <a:lstStyle/>
          <a:p>
            <a:pPr indent="0" marL="0">
              <a:buNone/>
            </a:pPr>
            <a:r>
              <a:rPr lang="en-US" sz="1400" b="1" dirty="0">
                <a:solidFill>
                  <a:srgbClr val="14161A"/>
                </a:solidFill>
              </a:rPr>
              <a:t>Your list</a:t>
            </a:r>
            <a:endParaRPr lang="en-US" sz="1400" dirty="0"/>
          </a:p>
        </p:txBody>
      </p:sp>
      <p:sp>
        <p:nvSpPr>
          <p:cNvPr id="11" name="Text 9"/>
          <p:cNvSpPr/>
          <p:nvPr/>
        </p:nvSpPr>
        <p:spPr>
          <a:xfrm>
            <a:off x="749808" y="3712464"/>
            <a:ext cx="1618488" cy="768096"/>
          </a:xfrm>
          <a:prstGeom prst="rect">
            <a:avLst/>
          </a:prstGeom>
          <a:noFill/>
          <a:ln/>
        </p:spPr>
        <p:txBody>
          <a:bodyPr wrap="square" lIns="0" tIns="0" rIns="0" bIns="0" rtlCol="0" anchor="ctr">
            <a:normAutofit/>
          </a:bodyPr>
          <a:lstStyle/>
          <a:p>
            <a:pPr indent="0" marL="0">
              <a:buNone/>
            </a:pPr>
            <a:r>
              <a:rPr lang="en-US" sz="870" dirty="0">
                <a:solidFill>
                  <a:srgbClr val="3C4346"/>
                </a:solidFill>
              </a:rPr>
              <a:t>Suggestions have reasons; items are grouped by the store route.</a:t>
            </a:r>
            <a:endParaRPr lang="en-US" sz="870" dirty="0"/>
          </a:p>
        </p:txBody>
      </p:sp>
      <p:sp>
        <p:nvSpPr>
          <p:cNvPr id="12" name="Shape 10"/>
          <p:cNvSpPr/>
          <p:nvPr/>
        </p:nvSpPr>
        <p:spPr>
          <a:xfrm>
            <a:off x="2834640" y="2487168"/>
            <a:ext cx="1993392" cy="2468880"/>
          </a:xfrm>
          <a:prstGeom prst="roundRect">
            <a:avLst>
              <a:gd name="adj" fmla="val 7339"/>
            </a:avLst>
          </a:prstGeom>
          <a:solidFill>
            <a:srgbClr val="14161A"/>
          </a:solidFill>
          <a:ln w="12700">
            <a:solidFill>
              <a:srgbClr val="14161A"/>
            </a:solidFill>
            <a:prstDash val="solid"/>
          </a:ln>
        </p:spPr>
      </p:sp>
      <p:sp>
        <p:nvSpPr>
          <p:cNvPr id="13" name="Text 11"/>
          <p:cNvSpPr/>
          <p:nvPr/>
        </p:nvSpPr>
        <p:spPr>
          <a:xfrm>
            <a:off x="3017520" y="2724912"/>
            <a:ext cx="365760" cy="182880"/>
          </a:xfrm>
          <a:prstGeom prst="rect">
            <a:avLst/>
          </a:prstGeom>
          <a:noFill/>
          <a:ln/>
        </p:spPr>
        <p:txBody>
          <a:bodyPr wrap="square" lIns="0" tIns="0" rIns="0" bIns="0" rtlCol="0" anchor="ctr"/>
          <a:lstStyle/>
          <a:p>
            <a:pPr indent="0" marL="0">
              <a:buNone/>
            </a:pPr>
            <a:r>
              <a:rPr lang="en-US" sz="800" b="1" spc="120" kern="0" dirty="0">
                <a:solidFill>
                  <a:srgbClr val="D8F05A"/>
                </a:solidFill>
              </a:rPr>
              <a:t>02</a:t>
            </a:r>
            <a:endParaRPr lang="en-US" sz="800" dirty="0"/>
          </a:p>
        </p:txBody>
      </p:sp>
      <p:sp>
        <p:nvSpPr>
          <p:cNvPr id="14" name="Text 12"/>
          <p:cNvSpPr/>
          <p:nvPr/>
        </p:nvSpPr>
        <p:spPr>
          <a:xfrm>
            <a:off x="3017520" y="3136392"/>
            <a:ext cx="1618488" cy="329184"/>
          </a:xfrm>
          <a:prstGeom prst="rect">
            <a:avLst/>
          </a:prstGeom>
          <a:noFill/>
          <a:ln/>
        </p:spPr>
        <p:txBody>
          <a:bodyPr wrap="square" lIns="0" tIns="0" rIns="0" bIns="0" rtlCol="0" anchor="ctr">
            <a:normAutofit/>
          </a:bodyPr>
          <a:lstStyle/>
          <a:p>
            <a:pPr indent="0" marL="0">
              <a:buNone/>
            </a:pPr>
            <a:r>
              <a:rPr lang="en-US" sz="1400" b="1" dirty="0">
                <a:solidFill>
                  <a:srgbClr val="FBFAF4"/>
                </a:solidFill>
              </a:rPr>
              <a:t>Start shopping</a:t>
            </a:r>
            <a:endParaRPr lang="en-US" sz="1400" dirty="0"/>
          </a:p>
        </p:txBody>
      </p:sp>
      <p:sp>
        <p:nvSpPr>
          <p:cNvPr id="15" name="Text 13"/>
          <p:cNvSpPr/>
          <p:nvPr/>
        </p:nvSpPr>
        <p:spPr>
          <a:xfrm>
            <a:off x="3017520" y="3712464"/>
            <a:ext cx="1618488" cy="768096"/>
          </a:xfrm>
          <a:prstGeom prst="rect">
            <a:avLst/>
          </a:prstGeom>
          <a:noFill/>
          <a:ln/>
        </p:spPr>
        <p:txBody>
          <a:bodyPr wrap="square" lIns="0" tIns="0" rIns="0" bIns="0" rtlCol="0" anchor="ctr">
            <a:normAutofit/>
          </a:bodyPr>
          <a:lstStyle/>
          <a:p>
            <a:pPr indent="0" marL="0">
              <a:buNone/>
            </a:pPr>
            <a:r>
              <a:rPr lang="en-US" sz="870" dirty="0">
                <a:solidFill>
                  <a:srgbClr val="CDD2D0"/>
                </a:solidFill>
              </a:rPr>
              <a:t>The ground inverts to trip mode: one item, aisle order, swipe or tap, and the trolley total running along the top.</a:t>
            </a:r>
            <a:endParaRPr lang="en-US" sz="870" dirty="0"/>
          </a:p>
        </p:txBody>
      </p:sp>
      <p:sp>
        <p:nvSpPr>
          <p:cNvPr id="16" name="Shape 14"/>
          <p:cNvSpPr/>
          <p:nvPr/>
        </p:nvSpPr>
        <p:spPr>
          <a:xfrm>
            <a:off x="5102352" y="2487168"/>
            <a:ext cx="1993392" cy="2468880"/>
          </a:xfrm>
          <a:prstGeom prst="roundRect">
            <a:avLst>
              <a:gd name="adj" fmla="val 7339"/>
            </a:avLst>
          </a:prstGeom>
          <a:solidFill>
            <a:srgbClr val="E9ECE5"/>
          </a:solidFill>
          <a:ln w="12700">
            <a:solidFill>
              <a:srgbClr val="E9ECE5"/>
            </a:solidFill>
            <a:prstDash val="solid"/>
          </a:ln>
        </p:spPr>
      </p:sp>
      <p:sp>
        <p:nvSpPr>
          <p:cNvPr id="17" name="Text 15"/>
          <p:cNvSpPr/>
          <p:nvPr/>
        </p:nvSpPr>
        <p:spPr>
          <a:xfrm>
            <a:off x="5285232" y="2724912"/>
            <a:ext cx="365760" cy="182880"/>
          </a:xfrm>
          <a:prstGeom prst="rect">
            <a:avLst/>
          </a:prstGeom>
          <a:noFill/>
          <a:ln/>
        </p:spPr>
        <p:txBody>
          <a:bodyPr wrap="square" lIns="0" tIns="0" rIns="0" bIns="0" rtlCol="0" anchor="ctr"/>
          <a:lstStyle/>
          <a:p>
            <a:pPr indent="0" marL="0">
              <a:buNone/>
            </a:pPr>
            <a:r>
              <a:rPr lang="en-US" sz="800" b="1" spc="120" kern="0" dirty="0">
                <a:solidFill>
                  <a:srgbClr val="697078"/>
                </a:solidFill>
              </a:rPr>
              <a:t>03</a:t>
            </a:r>
            <a:endParaRPr lang="en-US" sz="800" dirty="0"/>
          </a:p>
        </p:txBody>
      </p:sp>
      <p:sp>
        <p:nvSpPr>
          <p:cNvPr id="18" name="Text 16"/>
          <p:cNvSpPr/>
          <p:nvPr/>
        </p:nvSpPr>
        <p:spPr>
          <a:xfrm>
            <a:off x="5285232" y="3136392"/>
            <a:ext cx="1618488" cy="329184"/>
          </a:xfrm>
          <a:prstGeom prst="rect">
            <a:avLst/>
          </a:prstGeom>
          <a:noFill/>
          <a:ln/>
        </p:spPr>
        <p:txBody>
          <a:bodyPr wrap="square" lIns="0" tIns="0" rIns="0" bIns="0" rtlCol="0" anchor="ctr">
            <a:normAutofit/>
          </a:bodyPr>
          <a:lstStyle/>
          <a:p>
            <a:pPr indent="0" marL="0">
              <a:buNone/>
            </a:pPr>
            <a:r>
              <a:rPr lang="en-US" sz="1400" b="1" dirty="0">
                <a:solidFill>
                  <a:srgbClr val="14161A"/>
                </a:solidFill>
              </a:rPr>
              <a:t>Not here</a:t>
            </a:r>
            <a:endParaRPr lang="en-US" sz="1400" dirty="0"/>
          </a:p>
        </p:txBody>
      </p:sp>
      <p:sp>
        <p:nvSpPr>
          <p:cNvPr id="19" name="Text 17"/>
          <p:cNvSpPr/>
          <p:nvPr/>
        </p:nvSpPr>
        <p:spPr>
          <a:xfrm>
            <a:off x="5285232" y="3712464"/>
            <a:ext cx="1618488" cy="768096"/>
          </a:xfrm>
          <a:prstGeom prst="rect">
            <a:avLst/>
          </a:prstGeom>
          <a:noFill/>
          <a:ln/>
        </p:spPr>
        <p:txBody>
          <a:bodyPr wrap="square" lIns="0" tIns="0" rIns="0" bIns="0" rtlCol="0" anchor="ctr">
            <a:normAutofit/>
          </a:bodyPr>
          <a:lstStyle/>
          <a:p>
            <a:pPr indent="0" marL="0">
              <a:buNone/>
            </a:pPr>
            <a:r>
              <a:rPr lang="en-US" sz="870" dirty="0">
                <a:solidFill>
                  <a:srgbClr val="3C4346"/>
                </a:solidFill>
              </a:rPr>
              <a:t>Milk shows transparent, ranked alternatives.</a:t>
            </a:r>
            <a:endParaRPr lang="en-US" sz="870" dirty="0"/>
          </a:p>
        </p:txBody>
      </p:sp>
      <p:sp>
        <p:nvSpPr>
          <p:cNvPr id="20" name="Shape 18"/>
          <p:cNvSpPr/>
          <p:nvPr/>
        </p:nvSpPr>
        <p:spPr>
          <a:xfrm>
            <a:off x="7370064" y="2487168"/>
            <a:ext cx="1993392" cy="2468880"/>
          </a:xfrm>
          <a:prstGeom prst="roundRect">
            <a:avLst>
              <a:gd name="adj" fmla="val 7339"/>
            </a:avLst>
          </a:prstGeom>
          <a:solidFill>
            <a:srgbClr val="E9ECE5"/>
          </a:solidFill>
          <a:ln w="12700">
            <a:solidFill>
              <a:srgbClr val="E9ECE5"/>
            </a:solidFill>
            <a:prstDash val="solid"/>
          </a:ln>
        </p:spPr>
      </p:sp>
      <p:sp>
        <p:nvSpPr>
          <p:cNvPr id="21" name="Text 19"/>
          <p:cNvSpPr/>
          <p:nvPr/>
        </p:nvSpPr>
        <p:spPr>
          <a:xfrm>
            <a:off x="7552944" y="2724912"/>
            <a:ext cx="365760" cy="182880"/>
          </a:xfrm>
          <a:prstGeom prst="rect">
            <a:avLst/>
          </a:prstGeom>
          <a:noFill/>
          <a:ln/>
        </p:spPr>
        <p:txBody>
          <a:bodyPr wrap="square" lIns="0" tIns="0" rIns="0" bIns="0" rtlCol="0" anchor="ctr"/>
          <a:lstStyle/>
          <a:p>
            <a:pPr indent="0" marL="0">
              <a:buNone/>
            </a:pPr>
            <a:r>
              <a:rPr lang="en-US" sz="800" b="1" spc="120" kern="0" dirty="0">
                <a:solidFill>
                  <a:srgbClr val="697078"/>
                </a:solidFill>
              </a:rPr>
              <a:t>04</a:t>
            </a:r>
            <a:endParaRPr lang="en-US" sz="800" dirty="0"/>
          </a:p>
        </p:txBody>
      </p:sp>
      <p:sp>
        <p:nvSpPr>
          <p:cNvPr id="22" name="Text 20"/>
          <p:cNvSpPr/>
          <p:nvPr/>
        </p:nvSpPr>
        <p:spPr>
          <a:xfrm>
            <a:off x="7552944" y="3136392"/>
            <a:ext cx="1618488" cy="329184"/>
          </a:xfrm>
          <a:prstGeom prst="rect">
            <a:avLst/>
          </a:prstGeom>
          <a:noFill/>
          <a:ln/>
        </p:spPr>
        <p:txBody>
          <a:bodyPr wrap="square" lIns="0" tIns="0" rIns="0" bIns="0" rtlCol="0" anchor="ctr">
            <a:normAutofit/>
          </a:bodyPr>
          <a:lstStyle/>
          <a:p>
            <a:pPr indent="0" marL="0">
              <a:buNone/>
            </a:pPr>
            <a:r>
              <a:rPr lang="en-US" sz="1400" b="1" dirty="0">
                <a:solidFill>
                  <a:srgbClr val="14161A"/>
                </a:solidFill>
              </a:rPr>
              <a:t>Protected loaf</a:t>
            </a:r>
            <a:endParaRPr lang="en-US" sz="1400" dirty="0"/>
          </a:p>
        </p:txBody>
      </p:sp>
      <p:sp>
        <p:nvSpPr>
          <p:cNvPr id="23" name="Text 21"/>
          <p:cNvSpPr/>
          <p:nvPr/>
        </p:nvSpPr>
        <p:spPr>
          <a:xfrm>
            <a:off x="7552944" y="3712464"/>
            <a:ext cx="1618488" cy="768096"/>
          </a:xfrm>
          <a:prstGeom prst="rect">
            <a:avLst/>
          </a:prstGeom>
          <a:noFill/>
          <a:ln/>
        </p:spPr>
        <p:txBody>
          <a:bodyPr wrap="square" lIns="0" tIns="0" rIns="0" bIns="0" rtlCol="0" anchor="ctr">
            <a:normAutofit/>
          </a:bodyPr>
          <a:lstStyle/>
          <a:p>
            <a:pPr indent="0" marL="0">
              <a:buNone/>
            </a:pPr>
            <a:r>
              <a:rPr lang="en-US" sz="870" dirty="0">
                <a:solidFill>
                  <a:srgbClr val="3C4346"/>
                </a:solidFill>
              </a:rPr>
              <a:t>A gluten-free item has no substitute because safety is a hard stop.</a:t>
            </a:r>
            <a:endParaRPr lang="en-US" sz="870" dirty="0"/>
          </a:p>
        </p:txBody>
      </p:sp>
      <p:sp>
        <p:nvSpPr>
          <p:cNvPr id="24" name="Shape 22"/>
          <p:cNvSpPr/>
          <p:nvPr/>
        </p:nvSpPr>
        <p:spPr>
          <a:xfrm>
            <a:off x="9637776" y="2487168"/>
            <a:ext cx="1993392" cy="2468880"/>
          </a:xfrm>
          <a:prstGeom prst="roundRect">
            <a:avLst>
              <a:gd name="adj" fmla="val 7339"/>
            </a:avLst>
          </a:prstGeom>
          <a:solidFill>
            <a:srgbClr val="E9ECE5"/>
          </a:solidFill>
          <a:ln w="12700">
            <a:solidFill>
              <a:srgbClr val="E9ECE5"/>
            </a:solidFill>
            <a:prstDash val="solid"/>
          </a:ln>
        </p:spPr>
      </p:sp>
      <p:sp>
        <p:nvSpPr>
          <p:cNvPr id="25" name="Text 23"/>
          <p:cNvSpPr/>
          <p:nvPr/>
        </p:nvSpPr>
        <p:spPr>
          <a:xfrm>
            <a:off x="9820656" y="2724912"/>
            <a:ext cx="365760" cy="182880"/>
          </a:xfrm>
          <a:prstGeom prst="rect">
            <a:avLst/>
          </a:prstGeom>
          <a:noFill/>
          <a:ln/>
        </p:spPr>
        <p:txBody>
          <a:bodyPr wrap="square" lIns="0" tIns="0" rIns="0" bIns="0" rtlCol="0" anchor="ctr"/>
          <a:lstStyle/>
          <a:p>
            <a:pPr indent="0" marL="0">
              <a:buNone/>
            </a:pPr>
            <a:r>
              <a:rPr lang="en-US" sz="800" b="1" spc="120" kern="0" dirty="0">
                <a:solidFill>
                  <a:srgbClr val="697078"/>
                </a:solidFill>
              </a:rPr>
              <a:t>05</a:t>
            </a:r>
            <a:endParaRPr lang="en-US" sz="800" dirty="0"/>
          </a:p>
        </p:txBody>
      </p:sp>
      <p:sp>
        <p:nvSpPr>
          <p:cNvPr id="26" name="Text 24"/>
          <p:cNvSpPr/>
          <p:nvPr/>
        </p:nvSpPr>
        <p:spPr>
          <a:xfrm>
            <a:off x="9820656" y="3136392"/>
            <a:ext cx="1618488" cy="329184"/>
          </a:xfrm>
          <a:prstGeom prst="rect">
            <a:avLst/>
          </a:prstGeom>
          <a:noFill/>
          <a:ln/>
        </p:spPr>
        <p:txBody>
          <a:bodyPr wrap="square" lIns="0" tIns="0" rIns="0" bIns="0" rtlCol="0" anchor="ctr">
            <a:normAutofit/>
          </a:bodyPr>
          <a:lstStyle/>
          <a:p>
            <a:pPr indent="0" marL="0">
              <a:buNone/>
            </a:pPr>
            <a:r>
              <a:rPr lang="en-US" sz="1400" b="1" dirty="0">
                <a:solidFill>
                  <a:srgbClr val="14161A"/>
                </a:solidFill>
              </a:rPr>
              <a:t>Finish</a:t>
            </a:r>
            <a:endParaRPr lang="en-US" sz="1400" dirty="0"/>
          </a:p>
        </p:txBody>
      </p:sp>
      <p:sp>
        <p:nvSpPr>
          <p:cNvPr id="27" name="Text 25"/>
          <p:cNvSpPr/>
          <p:nvPr/>
        </p:nvSpPr>
        <p:spPr>
          <a:xfrm>
            <a:off x="9820656" y="3712464"/>
            <a:ext cx="1618488" cy="768096"/>
          </a:xfrm>
          <a:prstGeom prst="rect">
            <a:avLst/>
          </a:prstGeom>
          <a:noFill/>
          <a:ln/>
        </p:spPr>
        <p:txBody>
          <a:bodyPr wrap="square" lIns="0" tIns="0" rIns="0" bIns="0" rtlCol="0" anchor="ctr">
            <a:normAutofit/>
          </a:bodyPr>
          <a:lstStyle/>
          <a:p>
            <a:pPr indent="0" marL="0">
              <a:buNone/>
            </a:pPr>
            <a:r>
              <a:rPr lang="en-US" sz="870" dirty="0">
                <a:solidFill>
                  <a:srgbClr val="3C4346"/>
                </a:solidFill>
              </a:rPr>
              <a:t>Skipped items roll on to the next list, the running total lands, and one swap question captures the feedback.</a:t>
            </a:r>
            <a:endParaRPr lang="en-US" sz="870" dirty="0"/>
          </a:p>
        </p:txBody>
      </p:sp>
      <p:sp>
        <p:nvSpPr>
          <p:cNvPr id="28" name="Text 26"/>
          <p:cNvSpPr/>
          <p:nvPr/>
        </p:nvSpPr>
        <p:spPr>
          <a:xfrm>
            <a:off x="594360" y="5559552"/>
            <a:ext cx="10241280" cy="320040"/>
          </a:xfrm>
          <a:prstGeom prst="rect">
            <a:avLst/>
          </a:prstGeom>
          <a:noFill/>
          <a:ln/>
        </p:spPr>
        <p:txBody>
          <a:bodyPr wrap="square" lIns="0" tIns="0" rIns="0" bIns="0" rtlCol="0" anchor="ctr">
            <a:normAutofit/>
          </a:bodyPr>
          <a:lstStyle/>
          <a:p>
            <a:pPr indent="0" marL="0">
              <a:buNone/>
            </a:pPr>
            <a:r>
              <a:rPr lang="en-US" sz="1000" dirty="0">
                <a:solidFill>
                  <a:srgbClr val="697078"/>
                </a:solidFill>
              </a:rPr>
              <a:t>Demo setup: the two out-of-stock events are seeded so the decision moments always appear. Sweep has no stock feed and never claims one — only the shopper can see the shelf.</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08</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KEY PRODUCT DECISIONS</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Trust comes from knowing when not to guess.</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Each interaction has a deliberately limited promise.</a:t>
            </a:r>
            <a:endParaRPr lang="en-US" sz="1200" dirty="0"/>
          </a:p>
        </p:txBody>
      </p:sp>
      <p:sp>
        <p:nvSpPr>
          <p:cNvPr id="8" name="Shape 6"/>
          <p:cNvSpPr/>
          <p:nvPr/>
        </p:nvSpPr>
        <p:spPr>
          <a:xfrm>
            <a:off x="566928" y="2377440"/>
            <a:ext cx="3520440" cy="2432304"/>
          </a:xfrm>
          <a:prstGeom prst="roundRect">
            <a:avLst>
              <a:gd name="adj" fmla="val 4511"/>
            </a:avLst>
          </a:prstGeom>
          <a:solidFill>
            <a:srgbClr val="E9ECE5"/>
          </a:solidFill>
          <a:ln w="12700">
            <a:solidFill>
              <a:srgbClr val="E9ECE5"/>
            </a:solidFill>
            <a:prstDash val="solid"/>
          </a:ln>
        </p:spPr>
      </p:sp>
      <p:sp>
        <p:nvSpPr>
          <p:cNvPr id="9" name="Text 7"/>
          <p:cNvSpPr/>
          <p:nvPr/>
        </p:nvSpPr>
        <p:spPr>
          <a:xfrm>
            <a:off x="777240" y="256032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Transparent suggestions</a:t>
            </a:r>
            <a:endParaRPr lang="en-US" sz="1100" dirty="0"/>
          </a:p>
        </p:txBody>
      </p:sp>
      <p:sp>
        <p:nvSpPr>
          <p:cNvPr id="10" name="Text 8"/>
          <p:cNvSpPr/>
          <p:nvPr/>
        </p:nvSpPr>
        <p:spPr>
          <a:xfrm>
            <a:off x="777240" y="2944368"/>
            <a:ext cx="3099816" cy="1719072"/>
          </a:xfrm>
          <a:prstGeom prst="rect">
            <a:avLst/>
          </a:prstGeom>
          <a:noFill/>
          <a:ln/>
        </p:spPr>
        <p:txBody>
          <a:bodyPr wrap="square" lIns="0" tIns="0" rIns="0" bIns="0" rtlCol="0" anchor="t">
            <a:normAutofit/>
          </a:bodyPr>
          <a:lstStyle/>
          <a:p>
            <a:pPr indent="0" marL="0">
              <a:buNone/>
            </a:pPr>
            <a:r>
              <a:rPr lang="en-US" sz="950" dirty="0">
                <a:solidFill>
                  <a:srgbClr val="3C4346"/>
                </a:solidFill>
              </a:rPr>
              <a:t>Median purchase intervals + confidence labels. A weak pattern is stated as unclear, rather than overclaimed.</a:t>
            </a:r>
            <a:endParaRPr lang="en-US" sz="950" dirty="0"/>
          </a:p>
        </p:txBody>
      </p:sp>
      <p:sp>
        <p:nvSpPr>
          <p:cNvPr id="11" name="Shape 9"/>
          <p:cNvSpPr/>
          <p:nvPr/>
        </p:nvSpPr>
        <p:spPr>
          <a:xfrm>
            <a:off x="4315968" y="2377440"/>
            <a:ext cx="3520440" cy="2432304"/>
          </a:xfrm>
          <a:prstGeom prst="roundRect">
            <a:avLst>
              <a:gd name="adj" fmla="val 4511"/>
            </a:avLst>
          </a:prstGeom>
          <a:solidFill>
            <a:srgbClr val="FCE9E3"/>
          </a:solidFill>
          <a:ln w="12700">
            <a:solidFill>
              <a:srgbClr val="FCE9E3"/>
            </a:solidFill>
            <a:prstDash val="solid"/>
          </a:ln>
        </p:spPr>
      </p:sp>
      <p:sp>
        <p:nvSpPr>
          <p:cNvPr id="12" name="Text 10"/>
          <p:cNvSpPr/>
          <p:nvPr/>
        </p:nvSpPr>
        <p:spPr>
          <a:xfrm>
            <a:off x="4526280" y="256032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Safety before ranking</a:t>
            </a:r>
            <a:endParaRPr lang="en-US" sz="1100" dirty="0"/>
          </a:p>
        </p:txBody>
      </p:sp>
      <p:sp>
        <p:nvSpPr>
          <p:cNvPr id="13" name="Text 11"/>
          <p:cNvSpPr/>
          <p:nvPr/>
        </p:nvSpPr>
        <p:spPr>
          <a:xfrm>
            <a:off x="4526280" y="2944368"/>
            <a:ext cx="3099816" cy="1719072"/>
          </a:xfrm>
          <a:prstGeom prst="rect">
            <a:avLst/>
          </a:prstGeom>
          <a:noFill/>
          <a:ln/>
        </p:spPr>
        <p:txBody>
          <a:bodyPr wrap="square" lIns="0" tIns="0" rIns="0" bIns="0" rtlCol="0" anchor="t">
            <a:normAutofit/>
          </a:bodyPr>
          <a:lstStyle/>
          <a:p>
            <a:pPr indent="0" marL="0">
              <a:buNone/>
            </a:pPr>
            <a:r>
              <a:rPr lang="en-US" sz="950" dirty="0">
                <a:solidFill>
                  <a:srgbClr val="3C4346"/>
                </a:solidFill>
              </a:rPr>
              <a:t>A never-substitute preference returns no alternatives. Dietary safety is a gate, not a lower score.</a:t>
            </a:r>
            <a:endParaRPr lang="en-US" sz="950" dirty="0"/>
          </a:p>
        </p:txBody>
      </p:sp>
      <p:sp>
        <p:nvSpPr>
          <p:cNvPr id="14" name="Shape 12"/>
          <p:cNvSpPr/>
          <p:nvPr/>
        </p:nvSpPr>
        <p:spPr>
          <a:xfrm>
            <a:off x="8065008" y="2377440"/>
            <a:ext cx="3520440" cy="2432304"/>
          </a:xfrm>
          <a:prstGeom prst="roundRect">
            <a:avLst>
              <a:gd name="adj" fmla="val 4511"/>
            </a:avLst>
          </a:prstGeom>
          <a:solidFill>
            <a:srgbClr val="E8F4FA"/>
          </a:solidFill>
          <a:ln w="12700">
            <a:solidFill>
              <a:srgbClr val="E8F4FA"/>
            </a:solidFill>
            <a:prstDash val="solid"/>
          </a:ln>
        </p:spPr>
      </p:sp>
      <p:sp>
        <p:nvSpPr>
          <p:cNvPr id="15" name="Text 13"/>
          <p:cNvSpPr/>
          <p:nvPr/>
        </p:nvSpPr>
        <p:spPr>
          <a:xfrm>
            <a:off x="8275320" y="256032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Control over learning</a:t>
            </a:r>
            <a:endParaRPr lang="en-US" sz="1100" dirty="0"/>
          </a:p>
        </p:txBody>
      </p:sp>
      <p:sp>
        <p:nvSpPr>
          <p:cNvPr id="16" name="Text 14"/>
          <p:cNvSpPr/>
          <p:nvPr/>
        </p:nvSpPr>
        <p:spPr>
          <a:xfrm>
            <a:off x="8275320" y="2944368"/>
            <a:ext cx="3099816" cy="1719072"/>
          </a:xfrm>
          <a:prstGeom prst="rect">
            <a:avLst/>
          </a:prstGeom>
          <a:noFill/>
          <a:ln/>
        </p:spPr>
        <p:txBody>
          <a:bodyPr wrap="square" lIns="0" tIns="0" rIns="0" bIns="0" rtlCol="0" anchor="t">
            <a:normAutofit/>
          </a:bodyPr>
          <a:lstStyle/>
          <a:p>
            <a:pPr indent="0" marL="0">
              <a:buNone/>
            </a:pPr>
            <a:r>
              <a:rPr lang="en-US" sz="950" dirty="0">
                <a:solidFill>
                  <a:srgbClr val="3C4346"/>
                </a:solidFill>
              </a:rPr>
              <a:t>Deleting an inference removes its underlying products from future suggestions; three dismissals retire an item.</a:t>
            </a:r>
            <a:endParaRPr lang="en-US" sz="950" dirty="0"/>
          </a:p>
        </p:txBody>
      </p:sp>
      <p:sp>
        <p:nvSpPr>
          <p:cNvPr id="17" name="Text 15"/>
          <p:cNvSpPr/>
          <p:nvPr/>
        </p:nvSpPr>
        <p:spPr>
          <a:xfrm>
            <a:off x="621792" y="5440680"/>
            <a:ext cx="10058400" cy="256032"/>
          </a:xfrm>
          <a:prstGeom prst="rect">
            <a:avLst/>
          </a:prstGeom>
          <a:noFill/>
          <a:ln/>
        </p:spPr>
        <p:txBody>
          <a:bodyPr wrap="square" lIns="0" tIns="0" rIns="0" bIns="0" rtlCol="0" anchor="ctr"/>
          <a:lstStyle/>
          <a:p>
            <a:pPr indent="0" marL="0">
              <a:buNone/>
            </a:pPr>
            <a:r>
              <a:rPr lang="en-US" sz="1300" b="1" dirty="0">
                <a:solidFill>
                  <a:srgbClr val="14161A"/>
                </a:solidFill>
              </a:rPr>
              <a:t>Principle: explain the input, preserve the shopper’s choice, and degrade honestly when data is missing.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09</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TRIP MODE, IN DETAIL</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The shopper is not a queue.</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One item at a time only works if the shopper can always overrule it. Three ways out — and not one of them asks her to reorder a list one-handed.</a:t>
            </a:r>
            <a:endParaRPr lang="en-US" sz="1200" dirty="0"/>
          </a:p>
        </p:txBody>
      </p:sp>
      <p:sp>
        <p:nvSpPr>
          <p:cNvPr id="8" name="Shape 6"/>
          <p:cNvSpPr/>
          <p:nvPr/>
        </p:nvSpPr>
        <p:spPr>
          <a:xfrm>
            <a:off x="566928" y="2377440"/>
            <a:ext cx="3520440" cy="2432304"/>
          </a:xfrm>
          <a:prstGeom prst="roundRect">
            <a:avLst>
              <a:gd name="adj" fmla="val 4511"/>
            </a:avLst>
          </a:prstGeom>
          <a:solidFill>
            <a:srgbClr val="E9ECE5"/>
          </a:solidFill>
          <a:ln w="12700">
            <a:solidFill>
              <a:srgbClr val="E9ECE5"/>
            </a:solidFill>
            <a:prstDash val="solid"/>
          </a:ln>
        </p:spPr>
      </p:sp>
      <p:sp>
        <p:nvSpPr>
          <p:cNvPr id="9" name="Text 7"/>
          <p:cNvSpPr/>
          <p:nvPr/>
        </p:nvSpPr>
        <p:spPr>
          <a:xfrm>
            <a:off x="777240" y="256032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Take it out of order</a:t>
            </a:r>
            <a:endParaRPr lang="en-US" sz="1100" dirty="0"/>
          </a:p>
        </p:txBody>
      </p:sp>
      <p:sp>
        <p:nvSpPr>
          <p:cNvPr id="10" name="Text 8"/>
          <p:cNvSpPr/>
          <p:nvPr/>
        </p:nvSpPr>
        <p:spPr>
          <a:xfrm>
            <a:off x="777240" y="2944368"/>
            <a:ext cx="3099816" cy="1719072"/>
          </a:xfrm>
          <a:prstGeom prst="rect">
            <a:avLst/>
          </a:prstGeom>
          <a:noFill/>
          <a:ln/>
        </p:spPr>
        <p:txBody>
          <a:bodyPr wrap="square" lIns="0" tIns="0" rIns="0" bIns="0" rtlCol="0" anchor="t">
            <a:normAutofit/>
          </a:bodyPr>
          <a:lstStyle/>
          <a:p>
            <a:pPr indent="0" marL="0">
              <a:buNone/>
            </a:pPr>
            <a:r>
              <a:rPr lang="en-US" sz="950" dirty="0">
                <a:solidFill>
                  <a:srgbClr val="3C4346"/>
                </a:solidFill>
              </a:rPr>
              <a:t>The route rail opens into the whole list. Tap a line to take the thing she can already see. Tap an aisle heading to say “I’m in aisle 6”, and the walk begins there instead.</a:t>
            </a:r>
            <a:endParaRPr lang="en-US" sz="950" dirty="0"/>
          </a:p>
        </p:txBody>
      </p:sp>
      <p:sp>
        <p:nvSpPr>
          <p:cNvPr id="11" name="Shape 9"/>
          <p:cNvSpPr/>
          <p:nvPr/>
        </p:nvSpPr>
        <p:spPr>
          <a:xfrm>
            <a:off x="4315968" y="2377440"/>
            <a:ext cx="3520440" cy="2432304"/>
          </a:xfrm>
          <a:prstGeom prst="roundRect">
            <a:avLst>
              <a:gd name="adj" fmla="val 4511"/>
            </a:avLst>
          </a:prstGeom>
          <a:solidFill>
            <a:srgbClr val="FCE9E3"/>
          </a:solidFill>
          <a:ln w="12700">
            <a:solidFill>
              <a:srgbClr val="FCE9E3"/>
            </a:solidFill>
            <a:prstDash val="solid"/>
          </a:ln>
        </p:spPr>
      </p:sp>
      <p:sp>
        <p:nvSpPr>
          <p:cNvPr id="12" name="Text 10"/>
          <p:cNvSpPr/>
          <p:nvPr/>
        </p:nvSpPr>
        <p:spPr>
          <a:xfrm>
            <a:off x="4526280" y="256032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Rotation, not reshuffle</a:t>
            </a:r>
            <a:endParaRPr lang="en-US" sz="1100" dirty="0"/>
          </a:p>
        </p:txBody>
      </p:sp>
      <p:sp>
        <p:nvSpPr>
          <p:cNvPr id="13" name="Text 11"/>
          <p:cNvSpPr/>
          <p:nvPr/>
        </p:nvSpPr>
        <p:spPr>
          <a:xfrm>
            <a:off x="4526280" y="2944368"/>
            <a:ext cx="3099816" cy="1719072"/>
          </a:xfrm>
          <a:prstGeom prst="rect">
            <a:avLst/>
          </a:prstGeom>
          <a:noFill/>
          <a:ln/>
        </p:spPr>
        <p:txBody>
          <a:bodyPr wrap="square" lIns="0" tIns="0" rIns="0" bIns="0" rtlCol="0" anchor="t">
            <a:normAutofit/>
          </a:bodyPr>
          <a:lstStyle/>
          <a:p>
            <a:pPr indent="0" marL="0">
              <a:buNone/>
            </a:pPr>
            <a:r>
              <a:rPr lang="en-US" sz="950" dirty="0">
                <a:solidFill>
                  <a:srgbClr val="3C4346"/>
                </a:solidFill>
              </a:rPr>
              <a:t>Starting mid-shop sorts on a lap flag before the walk index. Aisles behind her keep their own order and come round at the end, so clearing one field puts the original walk back exactly.</a:t>
            </a:r>
            <a:endParaRPr lang="en-US" sz="950" dirty="0"/>
          </a:p>
        </p:txBody>
      </p:sp>
      <p:sp>
        <p:nvSpPr>
          <p:cNvPr id="14" name="Shape 12"/>
          <p:cNvSpPr/>
          <p:nvPr/>
        </p:nvSpPr>
        <p:spPr>
          <a:xfrm>
            <a:off x="8065008" y="2377440"/>
            <a:ext cx="3520440" cy="2432304"/>
          </a:xfrm>
          <a:prstGeom prst="roundRect">
            <a:avLst>
              <a:gd name="adj" fmla="val 4511"/>
            </a:avLst>
          </a:prstGeom>
          <a:solidFill>
            <a:srgbClr val="E8F4FA"/>
          </a:solidFill>
          <a:ln w="12700">
            <a:solidFill>
              <a:srgbClr val="E8F4FA"/>
            </a:solidFill>
            <a:prstDash val="solid"/>
          </a:ln>
        </p:spPr>
      </p:sp>
      <p:sp>
        <p:nvSpPr>
          <p:cNvPr id="15" name="Text 13"/>
          <p:cNvSpPr/>
          <p:nvPr/>
        </p:nvSpPr>
        <p:spPr>
          <a:xfrm>
            <a:off x="8275320" y="2560320"/>
            <a:ext cx="3099816" cy="274320"/>
          </a:xfrm>
          <a:prstGeom prst="rect">
            <a:avLst/>
          </a:prstGeom>
          <a:noFill/>
          <a:ln/>
        </p:spPr>
        <p:txBody>
          <a:bodyPr wrap="square" lIns="0" tIns="0" rIns="0" bIns="0" rtlCol="0" anchor="ctr"/>
          <a:lstStyle/>
          <a:p>
            <a:pPr indent="0" marL="0">
              <a:buNone/>
            </a:pPr>
            <a:r>
              <a:rPr lang="en-US" sz="1100" b="1" dirty="0">
                <a:solidFill>
                  <a:srgbClr val="14161A"/>
                </a:solidFill>
              </a:rPr>
              <a:t>Swipe is a shortcut</a:t>
            </a:r>
            <a:endParaRPr lang="en-US" sz="1100" dirty="0"/>
          </a:p>
        </p:txBody>
      </p:sp>
      <p:sp>
        <p:nvSpPr>
          <p:cNvPr id="16" name="Text 14"/>
          <p:cNvSpPr/>
          <p:nvPr/>
        </p:nvSpPr>
        <p:spPr>
          <a:xfrm>
            <a:off x="8275320" y="2944368"/>
            <a:ext cx="3099816" cy="1719072"/>
          </a:xfrm>
          <a:prstGeom prst="rect">
            <a:avLst/>
          </a:prstGeom>
          <a:noFill/>
          <a:ln/>
        </p:spPr>
        <p:txBody>
          <a:bodyPr wrap="square" lIns="0" tIns="0" rIns="0" bIns="0" rtlCol="0" anchor="t">
            <a:normAutofit/>
          </a:bodyPr>
          <a:lstStyle/>
          <a:p>
            <a:pPr indent="0" marL="0">
              <a:buNone/>
            </a:pPr>
            <a:r>
              <a:rPr lang="en-US" sz="950" dirty="0">
                <a:solidFill>
                  <a:srgbClr val="3C4346"/>
                </a:solidFill>
              </a:rPr>
              <a:t>Right for In the trolley, left for Not here — and the buttons never move or shrink to make room. Gloves, a trolley, a child on one arm: those shoppers tap, and nothing is out of reach.</a:t>
            </a:r>
            <a:endParaRPr lang="en-US" sz="950" dirty="0"/>
          </a:p>
        </p:txBody>
      </p:sp>
      <p:sp>
        <p:nvSpPr>
          <p:cNvPr id="17" name="Text 15"/>
          <p:cNvSpPr/>
          <p:nvPr/>
        </p:nvSpPr>
        <p:spPr>
          <a:xfrm>
            <a:off x="621792" y="5440680"/>
            <a:ext cx="10058400" cy="256032"/>
          </a:xfrm>
          <a:prstGeom prst="rect">
            <a:avLst/>
          </a:prstGeom>
          <a:noFill/>
          <a:ln/>
        </p:spPr>
        <p:txBody>
          <a:bodyPr wrap="square" lIns="0" tIns="0" rIns="0" bIns="0" rtlCol="0" anchor="ctr"/>
          <a:lstStyle/>
          <a:p>
            <a:pPr indent="0" marL="0">
              <a:buNone/>
            </a:pPr>
            <a:r>
              <a:rPr lang="en-US" sz="1300" b="1" dirty="0">
                <a:solidFill>
                  <a:srgbClr val="14161A"/>
                </a:solidFill>
              </a:rPr>
              <a:t>Motion budget: one lift, one fall, 420ms — and the next item is already there before it finishes.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14161A"/>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364047"/>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A5ADB1"/>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A5ADB1"/>
                </a:solidFill>
              </a:rPr>
              <a:t>10</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D8F05A"/>
                </a:solidFill>
              </a:rPr>
              <a:t>ARCHITECTURE</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FBFAF4"/>
                </a:solidFill>
              </a:rPr>
              <a:t>The product rules are separate from the interface and data source.</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CDD2D0"/>
                </a:solidFill>
              </a:rPr>
              <a:t>This makes the important decisions testable today and replaceable tomorrow.</a:t>
            </a:r>
            <a:endParaRPr lang="en-US" sz="1200" dirty="0"/>
          </a:p>
        </p:txBody>
      </p:sp>
      <p:sp>
        <p:nvSpPr>
          <p:cNvPr id="8" name="Shape 6"/>
          <p:cNvSpPr/>
          <p:nvPr/>
        </p:nvSpPr>
        <p:spPr>
          <a:xfrm>
            <a:off x="685800" y="2743200"/>
            <a:ext cx="2057400" cy="1371600"/>
          </a:xfrm>
          <a:prstGeom prst="roundRect">
            <a:avLst>
              <a:gd name="adj" fmla="val 10667"/>
            </a:avLst>
          </a:prstGeom>
          <a:solidFill>
            <a:srgbClr val="D8F05A"/>
          </a:solidFill>
          <a:ln w="12700">
            <a:solidFill>
              <a:srgbClr val="D8F05A"/>
            </a:solidFill>
            <a:prstDash val="solid"/>
          </a:ln>
        </p:spPr>
      </p:sp>
      <p:sp>
        <p:nvSpPr>
          <p:cNvPr id="9" name="Text 7"/>
          <p:cNvSpPr/>
          <p:nvPr/>
        </p:nvSpPr>
        <p:spPr>
          <a:xfrm>
            <a:off x="868680" y="2980944"/>
            <a:ext cx="1645920" cy="182880"/>
          </a:xfrm>
          <a:prstGeom prst="rect">
            <a:avLst/>
          </a:prstGeom>
          <a:noFill/>
          <a:ln/>
        </p:spPr>
        <p:txBody>
          <a:bodyPr wrap="square" lIns="0" tIns="0" rIns="0" bIns="0" rtlCol="0" anchor="ctr"/>
          <a:lstStyle/>
          <a:p>
            <a:pPr indent="0" marL="0">
              <a:buNone/>
            </a:pPr>
            <a:r>
              <a:rPr lang="en-US" sz="800" b="1" spc="120" kern="0" dirty="0">
                <a:solidFill>
                  <a:srgbClr val="14161A"/>
                </a:solidFill>
              </a:rPr>
              <a:t>UI</a:t>
            </a:r>
            <a:endParaRPr lang="en-US" sz="800" dirty="0"/>
          </a:p>
        </p:txBody>
      </p:sp>
      <p:sp>
        <p:nvSpPr>
          <p:cNvPr id="10" name="Text 8"/>
          <p:cNvSpPr/>
          <p:nvPr/>
        </p:nvSpPr>
        <p:spPr>
          <a:xfrm>
            <a:off x="868680" y="3337560"/>
            <a:ext cx="1645920" cy="411480"/>
          </a:xfrm>
          <a:prstGeom prst="rect">
            <a:avLst/>
          </a:prstGeom>
          <a:noFill/>
          <a:ln/>
        </p:spPr>
        <p:txBody>
          <a:bodyPr wrap="square" lIns="0" tIns="0" rIns="0" bIns="0" rtlCol="0" anchor="ctr">
            <a:normAutofit/>
          </a:bodyPr>
          <a:lstStyle/>
          <a:p>
            <a:pPr indent="0" marL="0">
              <a:buNone/>
            </a:pPr>
            <a:r>
              <a:rPr lang="en-US" sz="1000" b="1" dirty="0">
                <a:solidFill>
                  <a:srgbClr val="14161A"/>
                </a:solidFill>
              </a:rPr>
              <a:t>Next.js / React</a:t>
            </a:r>
            <a:endParaRPr lang="en-US" sz="1000" dirty="0"/>
          </a:p>
          <a:p>
            <a:pPr indent="0" marL="0">
              <a:buNone/>
            </a:pPr>
            <a:r>
              <a:rPr lang="en-US" sz="1000" b="1" dirty="0">
                <a:solidFill>
                  <a:srgbClr val="14161A"/>
                </a:solidFill>
              </a:rPr>
              <a:t>Screens + components</a:t>
            </a:r>
            <a:endParaRPr lang="en-US" sz="1000" dirty="0"/>
          </a:p>
        </p:txBody>
      </p:sp>
      <p:sp>
        <p:nvSpPr>
          <p:cNvPr id="11" name="Shape 9"/>
          <p:cNvSpPr/>
          <p:nvPr/>
        </p:nvSpPr>
        <p:spPr>
          <a:xfrm>
            <a:off x="3127248" y="2743200"/>
            <a:ext cx="2057400" cy="1371600"/>
          </a:xfrm>
          <a:prstGeom prst="roundRect">
            <a:avLst>
              <a:gd name="adj" fmla="val 10667"/>
            </a:avLst>
          </a:prstGeom>
          <a:solidFill>
            <a:srgbClr val="30393D"/>
          </a:solidFill>
          <a:ln w="12700">
            <a:solidFill>
              <a:srgbClr val="30393D"/>
            </a:solidFill>
            <a:prstDash val="solid"/>
          </a:ln>
        </p:spPr>
      </p:sp>
      <p:sp>
        <p:nvSpPr>
          <p:cNvPr id="12" name="Text 10"/>
          <p:cNvSpPr/>
          <p:nvPr/>
        </p:nvSpPr>
        <p:spPr>
          <a:xfrm>
            <a:off x="3310128" y="2980944"/>
            <a:ext cx="1645920" cy="182880"/>
          </a:xfrm>
          <a:prstGeom prst="rect">
            <a:avLst/>
          </a:prstGeom>
          <a:noFill/>
          <a:ln/>
        </p:spPr>
        <p:txBody>
          <a:bodyPr wrap="square" lIns="0" tIns="0" rIns="0" bIns="0" rtlCol="0" anchor="ctr"/>
          <a:lstStyle/>
          <a:p>
            <a:pPr indent="0" marL="0">
              <a:buNone/>
            </a:pPr>
            <a:r>
              <a:rPr lang="en-US" sz="800" b="1" spc="120" kern="0" dirty="0">
                <a:solidFill>
                  <a:srgbClr val="FBFAF4"/>
                </a:solidFill>
              </a:rPr>
              <a:t>STATE</a:t>
            </a:r>
            <a:endParaRPr lang="en-US" sz="800" dirty="0"/>
          </a:p>
        </p:txBody>
      </p:sp>
      <p:sp>
        <p:nvSpPr>
          <p:cNvPr id="13" name="Text 11"/>
          <p:cNvSpPr/>
          <p:nvPr/>
        </p:nvSpPr>
        <p:spPr>
          <a:xfrm>
            <a:off x="3310128" y="3337560"/>
            <a:ext cx="1645920" cy="411480"/>
          </a:xfrm>
          <a:prstGeom prst="rect">
            <a:avLst/>
          </a:prstGeom>
          <a:noFill/>
          <a:ln/>
        </p:spPr>
        <p:txBody>
          <a:bodyPr wrap="square" lIns="0" tIns="0" rIns="0" bIns="0" rtlCol="0" anchor="ctr">
            <a:normAutofit/>
          </a:bodyPr>
          <a:lstStyle/>
          <a:p>
            <a:pPr indent="0" marL="0">
              <a:buNone/>
            </a:pPr>
            <a:r>
              <a:rPr lang="en-US" sz="1000" b="1" dirty="0">
                <a:solidFill>
                  <a:srgbClr val="FBFAF4"/>
                </a:solidFill>
              </a:rPr>
              <a:t>Zustand</a:t>
            </a:r>
            <a:endParaRPr lang="en-US" sz="1000" dirty="0"/>
          </a:p>
          <a:p>
            <a:pPr indent="0" marL="0">
              <a:buNone/>
            </a:pPr>
            <a:r>
              <a:rPr lang="en-US" sz="1000" b="1" dirty="0">
                <a:solidFill>
                  <a:srgbClr val="FBFAF4"/>
                </a:solidFill>
              </a:rPr>
              <a:t>Persisted trip state</a:t>
            </a:r>
            <a:endParaRPr lang="en-US" sz="1000" dirty="0"/>
          </a:p>
        </p:txBody>
      </p:sp>
      <p:sp>
        <p:nvSpPr>
          <p:cNvPr id="14" name="Shape 12"/>
          <p:cNvSpPr/>
          <p:nvPr/>
        </p:nvSpPr>
        <p:spPr>
          <a:xfrm>
            <a:off x="5568696" y="2743200"/>
            <a:ext cx="2057400" cy="1371600"/>
          </a:xfrm>
          <a:prstGeom prst="roundRect">
            <a:avLst>
              <a:gd name="adj" fmla="val 10667"/>
            </a:avLst>
          </a:prstGeom>
          <a:solidFill>
            <a:srgbClr val="30393D"/>
          </a:solidFill>
          <a:ln w="12700">
            <a:solidFill>
              <a:srgbClr val="30393D"/>
            </a:solidFill>
            <a:prstDash val="solid"/>
          </a:ln>
        </p:spPr>
      </p:sp>
      <p:sp>
        <p:nvSpPr>
          <p:cNvPr id="15" name="Text 13"/>
          <p:cNvSpPr/>
          <p:nvPr/>
        </p:nvSpPr>
        <p:spPr>
          <a:xfrm>
            <a:off x="5751576" y="2980944"/>
            <a:ext cx="1645920" cy="182880"/>
          </a:xfrm>
          <a:prstGeom prst="rect">
            <a:avLst/>
          </a:prstGeom>
          <a:noFill/>
          <a:ln/>
        </p:spPr>
        <p:txBody>
          <a:bodyPr wrap="square" lIns="0" tIns="0" rIns="0" bIns="0" rtlCol="0" anchor="ctr"/>
          <a:lstStyle/>
          <a:p>
            <a:pPr indent="0" marL="0">
              <a:buNone/>
            </a:pPr>
            <a:r>
              <a:rPr lang="en-US" sz="800" b="1" spc="120" kern="0" dirty="0">
                <a:solidFill>
                  <a:srgbClr val="FBFAF4"/>
                </a:solidFill>
              </a:rPr>
              <a:t>DOMAIN</a:t>
            </a:r>
            <a:endParaRPr lang="en-US" sz="800" dirty="0"/>
          </a:p>
        </p:txBody>
      </p:sp>
      <p:sp>
        <p:nvSpPr>
          <p:cNvPr id="16" name="Text 14"/>
          <p:cNvSpPr/>
          <p:nvPr/>
        </p:nvSpPr>
        <p:spPr>
          <a:xfrm>
            <a:off x="5751576" y="3337560"/>
            <a:ext cx="1645920" cy="411480"/>
          </a:xfrm>
          <a:prstGeom prst="rect">
            <a:avLst/>
          </a:prstGeom>
          <a:noFill/>
          <a:ln/>
        </p:spPr>
        <p:txBody>
          <a:bodyPr wrap="square" lIns="0" tIns="0" rIns="0" bIns="0" rtlCol="0" anchor="ctr">
            <a:normAutofit/>
          </a:bodyPr>
          <a:lstStyle/>
          <a:p>
            <a:pPr indent="0" marL="0">
              <a:buNone/>
            </a:pPr>
            <a:r>
              <a:rPr lang="en-US" sz="1000" b="1" dirty="0">
                <a:solidFill>
                  <a:srgbClr val="FBFAF4"/>
                </a:solidFill>
              </a:rPr>
              <a:t>Pure functions</a:t>
            </a:r>
            <a:endParaRPr lang="en-US" sz="1000" dirty="0"/>
          </a:p>
          <a:p>
            <a:pPr indent="0" marL="0">
              <a:buNone/>
            </a:pPr>
            <a:r>
              <a:rPr lang="en-US" sz="1000" b="1" dirty="0">
                <a:solidFill>
                  <a:srgbClr val="FBFAF4"/>
                </a:solidFill>
              </a:rPr>
              <a:t>Suggestions · safety · route · basket</a:t>
            </a:r>
            <a:endParaRPr lang="en-US" sz="1000" dirty="0"/>
          </a:p>
        </p:txBody>
      </p:sp>
      <p:sp>
        <p:nvSpPr>
          <p:cNvPr id="17" name="Shape 15"/>
          <p:cNvSpPr/>
          <p:nvPr/>
        </p:nvSpPr>
        <p:spPr>
          <a:xfrm>
            <a:off x="8010144" y="2743200"/>
            <a:ext cx="2057400" cy="1371600"/>
          </a:xfrm>
          <a:prstGeom prst="roundRect">
            <a:avLst>
              <a:gd name="adj" fmla="val 10667"/>
            </a:avLst>
          </a:prstGeom>
          <a:solidFill>
            <a:srgbClr val="30393D"/>
          </a:solidFill>
          <a:ln w="12700">
            <a:solidFill>
              <a:srgbClr val="30393D"/>
            </a:solidFill>
            <a:prstDash val="solid"/>
          </a:ln>
        </p:spPr>
      </p:sp>
      <p:sp>
        <p:nvSpPr>
          <p:cNvPr id="18" name="Text 16"/>
          <p:cNvSpPr/>
          <p:nvPr/>
        </p:nvSpPr>
        <p:spPr>
          <a:xfrm>
            <a:off x="8193024" y="2980944"/>
            <a:ext cx="1645920" cy="182880"/>
          </a:xfrm>
          <a:prstGeom prst="rect">
            <a:avLst/>
          </a:prstGeom>
          <a:noFill/>
          <a:ln/>
        </p:spPr>
        <p:txBody>
          <a:bodyPr wrap="square" lIns="0" tIns="0" rIns="0" bIns="0" rtlCol="0" anchor="ctr"/>
          <a:lstStyle/>
          <a:p>
            <a:pPr indent="0" marL="0">
              <a:buNone/>
            </a:pPr>
            <a:r>
              <a:rPr lang="en-US" sz="800" b="1" spc="120" kern="0" dirty="0">
                <a:solidFill>
                  <a:srgbClr val="FBFAF4"/>
                </a:solidFill>
              </a:rPr>
              <a:t>DATA</a:t>
            </a:r>
            <a:endParaRPr lang="en-US" sz="800" dirty="0"/>
          </a:p>
        </p:txBody>
      </p:sp>
      <p:sp>
        <p:nvSpPr>
          <p:cNvPr id="19" name="Text 17"/>
          <p:cNvSpPr/>
          <p:nvPr/>
        </p:nvSpPr>
        <p:spPr>
          <a:xfrm>
            <a:off x="8193024" y="3337560"/>
            <a:ext cx="1645920" cy="411480"/>
          </a:xfrm>
          <a:prstGeom prst="rect">
            <a:avLst/>
          </a:prstGeom>
          <a:noFill/>
          <a:ln/>
        </p:spPr>
        <p:txBody>
          <a:bodyPr wrap="square" lIns="0" tIns="0" rIns="0" bIns="0" rtlCol="0" anchor="ctr">
            <a:normAutofit/>
          </a:bodyPr>
          <a:lstStyle/>
          <a:p>
            <a:pPr indent="0" marL="0">
              <a:buNone/>
            </a:pPr>
            <a:r>
              <a:rPr lang="en-US" sz="1000" b="1" dirty="0">
                <a:solidFill>
                  <a:srgbClr val="FBFAF4"/>
                </a:solidFill>
              </a:rPr>
              <a:t>Repository boundary</a:t>
            </a:r>
            <a:endParaRPr lang="en-US" sz="1000" dirty="0"/>
          </a:p>
          <a:p>
            <a:pPr indent="0" marL="0">
              <a:buNone/>
            </a:pPr>
            <a:r>
              <a:rPr lang="en-US" sz="1000" b="1" dirty="0">
                <a:solidFill>
                  <a:srgbClr val="FBFAF4"/>
                </a:solidFill>
              </a:rPr>
              <a:t>Seed JSON now · API later</a:t>
            </a:r>
            <a:endParaRPr lang="en-US" sz="1000" dirty="0"/>
          </a:p>
        </p:txBody>
      </p:sp>
      <p:sp>
        <p:nvSpPr>
          <p:cNvPr id="20" name="Shape 18"/>
          <p:cNvSpPr/>
          <p:nvPr/>
        </p:nvSpPr>
        <p:spPr>
          <a:xfrm>
            <a:off x="2788920" y="3218688"/>
            <a:ext cx="292608" cy="384048"/>
          </a:xfrm>
          <a:prstGeom prst="chevron">
            <a:avLst/>
          </a:prstGeom>
          <a:solidFill>
            <a:srgbClr val="596469"/>
          </a:solidFill>
          <a:ln w="12700">
            <a:solidFill>
              <a:srgbClr val="596469"/>
            </a:solidFill>
            <a:prstDash val="solid"/>
          </a:ln>
        </p:spPr>
      </p:sp>
      <p:sp>
        <p:nvSpPr>
          <p:cNvPr id="21" name="Shape 19"/>
          <p:cNvSpPr/>
          <p:nvPr/>
        </p:nvSpPr>
        <p:spPr>
          <a:xfrm>
            <a:off x="5230368" y="3218688"/>
            <a:ext cx="292608" cy="384048"/>
          </a:xfrm>
          <a:prstGeom prst="chevron">
            <a:avLst/>
          </a:prstGeom>
          <a:solidFill>
            <a:srgbClr val="596469"/>
          </a:solidFill>
          <a:ln w="12700">
            <a:solidFill>
              <a:srgbClr val="596469"/>
            </a:solidFill>
            <a:prstDash val="solid"/>
          </a:ln>
        </p:spPr>
      </p:sp>
      <p:sp>
        <p:nvSpPr>
          <p:cNvPr id="22" name="Shape 20"/>
          <p:cNvSpPr/>
          <p:nvPr/>
        </p:nvSpPr>
        <p:spPr>
          <a:xfrm>
            <a:off x="7671816" y="3218688"/>
            <a:ext cx="292608" cy="384048"/>
          </a:xfrm>
          <a:prstGeom prst="chevron">
            <a:avLst/>
          </a:prstGeom>
          <a:solidFill>
            <a:srgbClr val="596469"/>
          </a:solidFill>
          <a:ln w="12700">
            <a:solidFill>
              <a:srgbClr val="596469"/>
            </a:solidFill>
            <a:prstDash val="solid"/>
          </a:ln>
        </p:spPr>
      </p:sp>
      <p:sp>
        <p:nvSpPr>
          <p:cNvPr id="23" name="Text 21"/>
          <p:cNvSpPr/>
          <p:nvPr/>
        </p:nvSpPr>
        <p:spPr>
          <a:xfrm>
            <a:off x="694944" y="4864608"/>
            <a:ext cx="1737360" cy="201168"/>
          </a:xfrm>
          <a:prstGeom prst="rect">
            <a:avLst/>
          </a:prstGeom>
          <a:noFill/>
          <a:ln/>
        </p:spPr>
        <p:txBody>
          <a:bodyPr wrap="square" lIns="0" tIns="0" rIns="0" bIns="0" rtlCol="0" anchor="ctr"/>
          <a:lstStyle/>
          <a:p>
            <a:pPr indent="0" marL="0">
              <a:buNone/>
            </a:pPr>
            <a:r>
              <a:rPr lang="en-US" sz="800" b="1" spc="130" kern="0" dirty="0">
                <a:solidFill>
                  <a:srgbClr val="D8F05A"/>
                </a:solidFill>
              </a:rPr>
              <a:t>Offline behaviour</a:t>
            </a:r>
            <a:endParaRPr lang="en-US" sz="800" dirty="0"/>
          </a:p>
        </p:txBody>
      </p:sp>
      <p:sp>
        <p:nvSpPr>
          <p:cNvPr id="24" name="Text 22"/>
          <p:cNvSpPr/>
          <p:nvPr/>
        </p:nvSpPr>
        <p:spPr>
          <a:xfrm>
            <a:off x="694944" y="5184648"/>
            <a:ext cx="9875520" cy="320040"/>
          </a:xfrm>
          <a:prstGeom prst="rect">
            <a:avLst/>
          </a:prstGeom>
          <a:noFill/>
          <a:ln/>
        </p:spPr>
        <p:txBody>
          <a:bodyPr wrap="square" lIns="0" tIns="0" rIns="0" bIns="0" rtlCol="0" anchor="ctr">
            <a:normAutofit/>
          </a:bodyPr>
          <a:lstStyle/>
          <a:p>
            <a:pPr indent="0" marL="0">
              <a:buNone/>
            </a:pPr>
            <a:r>
              <a:rPr lang="en-US" sz="1400" dirty="0">
                <a:solidFill>
                  <a:srgbClr val="FBFAF4"/>
                </a:solidFill>
              </a:rPr>
              <a:t>Trip actions apply immediately, persist locally, and queue with the time they happened. Poor signal should not interrupt a shop.</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11</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CODE REVIEW TALKING POINTS</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Four files explain the core of the product.</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Start from decisions and behaviour; then show how the code enforces them.</a:t>
            </a:r>
            <a:endParaRPr lang="en-US" sz="1200" dirty="0"/>
          </a:p>
        </p:txBody>
      </p:sp>
      <p:sp>
        <p:nvSpPr>
          <p:cNvPr id="8" name="Shape 6"/>
          <p:cNvSpPr/>
          <p:nvPr/>
        </p:nvSpPr>
        <p:spPr>
          <a:xfrm>
            <a:off x="594360" y="2331720"/>
            <a:ext cx="10789920" cy="521208"/>
          </a:xfrm>
          <a:prstGeom prst="roundRect">
            <a:avLst>
              <a:gd name="adj" fmla="val 14035"/>
            </a:avLst>
          </a:prstGeom>
          <a:solidFill>
            <a:srgbClr val="E9ECE5"/>
          </a:solidFill>
          <a:ln w="12700">
            <a:solidFill>
              <a:srgbClr val="E9ECE5"/>
            </a:solidFill>
            <a:prstDash val="solid"/>
          </a:ln>
        </p:spPr>
      </p:sp>
      <p:sp>
        <p:nvSpPr>
          <p:cNvPr id="9" name="Text 7"/>
          <p:cNvSpPr/>
          <p:nvPr/>
        </p:nvSpPr>
        <p:spPr>
          <a:xfrm>
            <a:off x="822960" y="2487168"/>
            <a:ext cx="2743200" cy="182880"/>
          </a:xfrm>
          <a:prstGeom prst="rect">
            <a:avLst/>
          </a:prstGeom>
          <a:noFill/>
          <a:ln/>
        </p:spPr>
        <p:txBody>
          <a:bodyPr wrap="square" lIns="0" tIns="0" rIns="0" bIns="0" rtlCol="0" anchor="ctr"/>
          <a:lstStyle/>
          <a:p>
            <a:pPr indent="0" marL="0">
              <a:buNone/>
            </a:pPr>
            <a:r>
              <a:rPr lang="en-US" sz="1000" b="1" dirty="0">
                <a:solidFill>
                  <a:srgbClr val="14161A"/>
                </a:solidFill>
                <a:latin typeface="Courier New" pitchFamily="34" charset="0"/>
                <a:ea typeface="Courier New" pitchFamily="34" charset="-122"/>
                <a:cs typeface="Courier New" pitchFamily="34" charset="-120"/>
              </a:rPr>
              <a:t>domain/suggestions.ts</a:t>
            </a:r>
            <a:endParaRPr lang="en-US" sz="1000" dirty="0"/>
          </a:p>
        </p:txBody>
      </p:sp>
      <p:sp>
        <p:nvSpPr>
          <p:cNvPr id="10" name="Text 8"/>
          <p:cNvSpPr/>
          <p:nvPr/>
        </p:nvSpPr>
        <p:spPr>
          <a:xfrm>
            <a:off x="3703320" y="2487168"/>
            <a:ext cx="7132320" cy="182880"/>
          </a:xfrm>
          <a:prstGeom prst="rect">
            <a:avLst/>
          </a:prstGeom>
          <a:noFill/>
          <a:ln/>
        </p:spPr>
        <p:txBody>
          <a:bodyPr wrap="square" lIns="0" tIns="0" rIns="0" bIns="0" rtlCol="0" anchor="ctr">
            <a:normAutofit/>
          </a:bodyPr>
          <a:lstStyle/>
          <a:p>
            <a:pPr indent="0" marL="0">
              <a:buNone/>
            </a:pPr>
            <a:r>
              <a:rPr lang="en-US" sz="1000" dirty="0">
                <a:solidFill>
                  <a:srgbClr val="697078"/>
                </a:solidFill>
              </a:rPr>
              <a:t>Median intervals, confidence, exclusions, dismissal retirement.</a:t>
            </a:r>
            <a:endParaRPr lang="en-US" sz="1000" dirty="0"/>
          </a:p>
        </p:txBody>
      </p:sp>
      <p:sp>
        <p:nvSpPr>
          <p:cNvPr id="11" name="Shape 9"/>
          <p:cNvSpPr/>
          <p:nvPr/>
        </p:nvSpPr>
        <p:spPr>
          <a:xfrm>
            <a:off x="594360" y="3063240"/>
            <a:ext cx="10789920" cy="521208"/>
          </a:xfrm>
          <a:prstGeom prst="roundRect">
            <a:avLst>
              <a:gd name="adj" fmla="val 14035"/>
            </a:avLst>
          </a:prstGeom>
          <a:solidFill>
            <a:srgbClr val="FBFAF4"/>
          </a:solidFill>
          <a:ln w="12700">
            <a:solidFill>
              <a:srgbClr val="D9DDD5"/>
            </a:solidFill>
            <a:prstDash val="solid"/>
          </a:ln>
        </p:spPr>
      </p:sp>
      <p:sp>
        <p:nvSpPr>
          <p:cNvPr id="12" name="Text 10"/>
          <p:cNvSpPr/>
          <p:nvPr/>
        </p:nvSpPr>
        <p:spPr>
          <a:xfrm>
            <a:off x="822960" y="3218688"/>
            <a:ext cx="2743200" cy="182880"/>
          </a:xfrm>
          <a:prstGeom prst="rect">
            <a:avLst/>
          </a:prstGeom>
          <a:noFill/>
          <a:ln/>
        </p:spPr>
        <p:txBody>
          <a:bodyPr wrap="square" lIns="0" tIns="0" rIns="0" bIns="0" rtlCol="0" anchor="ctr"/>
          <a:lstStyle/>
          <a:p>
            <a:pPr indent="0" marL="0">
              <a:buNone/>
            </a:pPr>
            <a:r>
              <a:rPr lang="en-US" sz="1000" b="1" dirty="0">
                <a:solidFill>
                  <a:srgbClr val="14161A"/>
                </a:solidFill>
                <a:latin typeface="Courier New" pitchFamily="34" charset="0"/>
                <a:ea typeface="Courier New" pitchFamily="34" charset="-122"/>
                <a:cs typeface="Courier New" pitchFamily="34" charset="-120"/>
              </a:rPr>
              <a:t>domain/substitutions.ts</a:t>
            </a:r>
            <a:endParaRPr lang="en-US" sz="1000" dirty="0"/>
          </a:p>
        </p:txBody>
      </p:sp>
      <p:sp>
        <p:nvSpPr>
          <p:cNvPr id="13" name="Text 11"/>
          <p:cNvSpPr/>
          <p:nvPr/>
        </p:nvSpPr>
        <p:spPr>
          <a:xfrm>
            <a:off x="3703320" y="3218688"/>
            <a:ext cx="7132320" cy="182880"/>
          </a:xfrm>
          <a:prstGeom prst="rect">
            <a:avLst/>
          </a:prstGeom>
          <a:noFill/>
          <a:ln/>
        </p:spPr>
        <p:txBody>
          <a:bodyPr wrap="square" lIns="0" tIns="0" rIns="0" bIns="0" rtlCol="0" anchor="ctr">
            <a:normAutofit/>
          </a:bodyPr>
          <a:lstStyle/>
          <a:p>
            <a:pPr indent="0" marL="0">
              <a:buNone/>
            </a:pPr>
            <a:r>
              <a:rPr lang="en-US" sz="1000" dirty="0">
                <a:solidFill>
                  <a:srgbClr val="697078"/>
                </a:solidFill>
              </a:rPr>
              <a:t>Protected item gate, dietary filter, explainable ranking.</a:t>
            </a:r>
            <a:endParaRPr lang="en-US" sz="1000" dirty="0"/>
          </a:p>
        </p:txBody>
      </p:sp>
      <p:sp>
        <p:nvSpPr>
          <p:cNvPr id="14" name="Shape 12"/>
          <p:cNvSpPr/>
          <p:nvPr/>
        </p:nvSpPr>
        <p:spPr>
          <a:xfrm>
            <a:off x="594360" y="3794760"/>
            <a:ext cx="10789920" cy="521208"/>
          </a:xfrm>
          <a:prstGeom prst="roundRect">
            <a:avLst>
              <a:gd name="adj" fmla="val 14035"/>
            </a:avLst>
          </a:prstGeom>
          <a:solidFill>
            <a:srgbClr val="E9ECE5"/>
          </a:solidFill>
          <a:ln w="12700">
            <a:solidFill>
              <a:srgbClr val="E9ECE5"/>
            </a:solidFill>
            <a:prstDash val="solid"/>
          </a:ln>
        </p:spPr>
      </p:sp>
      <p:sp>
        <p:nvSpPr>
          <p:cNvPr id="15" name="Text 13"/>
          <p:cNvSpPr/>
          <p:nvPr/>
        </p:nvSpPr>
        <p:spPr>
          <a:xfrm>
            <a:off x="822960" y="3950208"/>
            <a:ext cx="2743200" cy="182880"/>
          </a:xfrm>
          <a:prstGeom prst="rect">
            <a:avLst/>
          </a:prstGeom>
          <a:noFill/>
          <a:ln/>
        </p:spPr>
        <p:txBody>
          <a:bodyPr wrap="square" lIns="0" tIns="0" rIns="0" bIns="0" rtlCol="0" anchor="ctr"/>
          <a:lstStyle/>
          <a:p>
            <a:pPr indent="0" marL="0">
              <a:buNone/>
            </a:pPr>
            <a:r>
              <a:rPr lang="en-US" sz="1000" b="1" dirty="0">
                <a:solidFill>
                  <a:srgbClr val="14161A"/>
                </a:solidFill>
                <a:latin typeface="Courier New" pitchFamily="34" charset="0"/>
                <a:ea typeface="Courier New" pitchFamily="34" charset="-122"/>
                <a:cs typeface="Courier New" pitchFamily="34" charset="-120"/>
              </a:rPr>
              <a:t>domain/storeOrder.ts</a:t>
            </a:r>
            <a:endParaRPr lang="en-US" sz="1000" dirty="0"/>
          </a:p>
        </p:txBody>
      </p:sp>
      <p:sp>
        <p:nvSpPr>
          <p:cNvPr id="16" name="Text 14"/>
          <p:cNvSpPr/>
          <p:nvPr/>
        </p:nvSpPr>
        <p:spPr>
          <a:xfrm>
            <a:off x="3703320" y="3950208"/>
            <a:ext cx="7132320" cy="182880"/>
          </a:xfrm>
          <a:prstGeom prst="rect">
            <a:avLst/>
          </a:prstGeom>
          <a:noFill/>
          <a:ln/>
        </p:spPr>
        <p:txBody>
          <a:bodyPr wrap="square" lIns="0" tIns="0" rIns="0" bIns="0" rtlCol="0" anchor="ctr">
            <a:normAutofit/>
          </a:bodyPr>
          <a:lstStyle/>
          <a:p>
            <a:pPr indent="0" marL="0">
              <a:buNone/>
            </a:pPr>
            <a:r>
              <a:rPr lang="en-US" sz="1000" dirty="0">
                <a:solidFill>
                  <a:srgbClr val="697078"/>
                </a:solidFill>
              </a:rPr>
              <a:t>Branch placement order, a category fallback when the layout is unknown, and the rotation that lets the walk start mid-shop.</a:t>
            </a:r>
            <a:endParaRPr lang="en-US" sz="1000" dirty="0"/>
          </a:p>
        </p:txBody>
      </p:sp>
      <p:sp>
        <p:nvSpPr>
          <p:cNvPr id="17" name="Shape 15"/>
          <p:cNvSpPr/>
          <p:nvPr/>
        </p:nvSpPr>
        <p:spPr>
          <a:xfrm>
            <a:off x="594360" y="4526280"/>
            <a:ext cx="10789920" cy="521208"/>
          </a:xfrm>
          <a:prstGeom prst="roundRect">
            <a:avLst>
              <a:gd name="adj" fmla="val 14035"/>
            </a:avLst>
          </a:prstGeom>
          <a:solidFill>
            <a:srgbClr val="FBFAF4"/>
          </a:solidFill>
          <a:ln w="12700">
            <a:solidFill>
              <a:srgbClr val="D9DDD5"/>
            </a:solidFill>
            <a:prstDash val="solid"/>
          </a:ln>
        </p:spPr>
      </p:sp>
      <p:sp>
        <p:nvSpPr>
          <p:cNvPr id="18" name="Text 16"/>
          <p:cNvSpPr/>
          <p:nvPr/>
        </p:nvSpPr>
        <p:spPr>
          <a:xfrm>
            <a:off x="822960" y="4681728"/>
            <a:ext cx="2743200" cy="182880"/>
          </a:xfrm>
          <a:prstGeom prst="rect">
            <a:avLst/>
          </a:prstGeom>
          <a:noFill/>
          <a:ln/>
        </p:spPr>
        <p:txBody>
          <a:bodyPr wrap="square" lIns="0" tIns="0" rIns="0" bIns="0" rtlCol="0" anchor="ctr"/>
          <a:lstStyle/>
          <a:p>
            <a:pPr indent="0" marL="0">
              <a:buNone/>
            </a:pPr>
            <a:r>
              <a:rPr lang="en-US" sz="1000" b="1" dirty="0">
                <a:solidFill>
                  <a:srgbClr val="14161A"/>
                </a:solidFill>
                <a:latin typeface="Courier New" pitchFamily="34" charset="0"/>
                <a:ea typeface="Courier New" pitchFamily="34" charset="-122"/>
                <a:cs typeface="Courier New" pitchFamily="34" charset="-120"/>
              </a:rPr>
              <a:t>lib/store.ts</a:t>
            </a:r>
            <a:endParaRPr lang="en-US" sz="1000" dirty="0"/>
          </a:p>
        </p:txBody>
      </p:sp>
      <p:sp>
        <p:nvSpPr>
          <p:cNvPr id="19" name="Text 17"/>
          <p:cNvSpPr/>
          <p:nvPr/>
        </p:nvSpPr>
        <p:spPr>
          <a:xfrm>
            <a:off x="3703320" y="4681728"/>
            <a:ext cx="7132320" cy="182880"/>
          </a:xfrm>
          <a:prstGeom prst="rect">
            <a:avLst/>
          </a:prstGeom>
          <a:noFill/>
          <a:ln/>
        </p:spPr>
        <p:txBody>
          <a:bodyPr wrap="square" lIns="0" tIns="0" rIns="0" bIns="0" rtlCol="0" anchor="ctr">
            <a:normAutofit/>
          </a:bodyPr>
          <a:lstStyle/>
          <a:p>
            <a:pPr indent="0" marL="0">
              <a:buNone/>
            </a:pPr>
            <a:r>
              <a:rPr lang="en-US" sz="1000" dirty="0">
                <a:solidFill>
                  <a:srgbClr val="697078"/>
                </a:solidFill>
              </a:rPr>
              <a:t>Persisted list/trip state, optimistic updates, offline queueing.</a:t>
            </a:r>
            <a:endParaRPr lang="en-US" sz="1000" dirty="0"/>
          </a:p>
        </p:txBody>
      </p:sp>
      <p:sp>
        <p:nvSpPr>
          <p:cNvPr id="20" name="Text 18"/>
          <p:cNvSpPr/>
          <p:nvPr/>
        </p:nvSpPr>
        <p:spPr>
          <a:xfrm>
            <a:off x="658368" y="5532120"/>
            <a:ext cx="10149840" cy="274320"/>
          </a:xfrm>
          <a:prstGeom prst="rect">
            <a:avLst/>
          </a:prstGeom>
          <a:noFill/>
          <a:ln/>
        </p:spPr>
        <p:txBody>
          <a:bodyPr wrap="square" lIns="0" tIns="0" rIns="0" bIns="0" rtlCol="0" anchor="ctr"/>
          <a:lstStyle/>
          <a:p>
            <a:pPr indent="0" marL="0">
              <a:buNone/>
            </a:pPr>
            <a:r>
              <a:rPr lang="en-US" sz="1100" b="1" dirty="0">
                <a:solidFill>
                  <a:srgbClr val="14161A"/>
                </a:solidFill>
              </a:rPr>
              <a:t>Quality check: 95 tests across 8 domain files cover suggestion timing, confidence, safety gates, ranking, route fallbacks, the walk rotation, and the basket total. The domain has no React and no I/O.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12</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HOW I USED AI</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AI accelerated exploration; it did not make the product decisions for me.</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I used it as a collaborator for alternatives, explanation, and implementation support—then checked the result against the brief and code.</a:t>
            </a:r>
            <a:endParaRPr lang="en-US" sz="1200" dirty="0"/>
          </a:p>
        </p:txBody>
      </p:sp>
      <p:sp>
        <p:nvSpPr>
          <p:cNvPr id="8" name="Shape 6"/>
          <p:cNvSpPr/>
          <p:nvPr/>
        </p:nvSpPr>
        <p:spPr>
          <a:xfrm>
            <a:off x="594360" y="2331720"/>
            <a:ext cx="3429000" cy="2560320"/>
          </a:xfrm>
          <a:prstGeom prst="roundRect">
            <a:avLst>
              <a:gd name="adj" fmla="val 4286"/>
            </a:avLst>
          </a:prstGeom>
          <a:solidFill>
            <a:srgbClr val="E9ECE5"/>
          </a:solidFill>
          <a:ln w="12700">
            <a:solidFill>
              <a:srgbClr val="E9ECE5"/>
            </a:solidFill>
            <a:prstDash val="solid"/>
          </a:ln>
        </p:spPr>
      </p:sp>
      <p:sp>
        <p:nvSpPr>
          <p:cNvPr id="9" name="Text 7"/>
          <p:cNvSpPr/>
          <p:nvPr/>
        </p:nvSpPr>
        <p:spPr>
          <a:xfrm>
            <a:off x="804672" y="2514600"/>
            <a:ext cx="3008376" cy="274320"/>
          </a:xfrm>
          <a:prstGeom prst="rect">
            <a:avLst/>
          </a:prstGeom>
          <a:noFill/>
          <a:ln/>
        </p:spPr>
        <p:txBody>
          <a:bodyPr wrap="square" lIns="0" tIns="0" rIns="0" bIns="0" rtlCol="0" anchor="ctr"/>
          <a:lstStyle/>
          <a:p>
            <a:pPr indent="0" marL="0">
              <a:buNone/>
            </a:pPr>
            <a:r>
              <a:rPr lang="en-US" sz="1100" b="1" dirty="0">
                <a:solidFill>
                  <a:srgbClr val="14161A"/>
                </a:solidFill>
              </a:rPr>
              <a:t>1. Frame a question</a:t>
            </a:r>
            <a:endParaRPr lang="en-US" sz="1100" dirty="0"/>
          </a:p>
        </p:txBody>
      </p:sp>
      <p:sp>
        <p:nvSpPr>
          <p:cNvPr id="10" name="Text 8"/>
          <p:cNvSpPr/>
          <p:nvPr/>
        </p:nvSpPr>
        <p:spPr>
          <a:xfrm>
            <a:off x="804672" y="2898648"/>
            <a:ext cx="3008376" cy="1847088"/>
          </a:xfrm>
          <a:prstGeom prst="rect">
            <a:avLst/>
          </a:prstGeom>
          <a:noFill/>
          <a:ln/>
        </p:spPr>
        <p:txBody>
          <a:bodyPr wrap="square" lIns="0" tIns="0" rIns="0" bIns="0" rtlCol="0" anchor="t">
            <a:normAutofit/>
          </a:bodyPr>
          <a:lstStyle/>
          <a:p>
            <a:pPr indent="0" marL="0">
              <a:buNone/>
            </a:pPr>
            <a:r>
              <a:rPr lang="en-US" sz="950" dirty="0">
                <a:solidFill>
                  <a:srgbClr val="3C4346"/>
                </a:solidFill>
              </a:rPr>
              <a:t>Example working prompt:</a:t>
            </a:r>
            <a:endParaRPr lang="en-US" sz="950" dirty="0"/>
          </a:p>
          <a:p>
            <a:pPr indent="0" marL="0">
              <a:buNone/>
            </a:pPr>
            <a:endParaRPr lang="en-US" sz="950" dirty="0"/>
          </a:p>
          <a:p>
            <a:pPr indent="0" marL="0">
              <a:buNone/>
            </a:pPr>
            <a:r>
              <a:rPr lang="en-US" sz="950" dirty="0">
                <a:solidFill>
                  <a:srgbClr val="3C4346"/>
                </a:solidFill>
              </a:rPr>
              <a:t>“How should a shopping app behave when a product is unavailable but dietary safety matters?”</a:t>
            </a:r>
            <a:endParaRPr lang="en-US" sz="950" dirty="0"/>
          </a:p>
        </p:txBody>
      </p:sp>
      <p:sp>
        <p:nvSpPr>
          <p:cNvPr id="11" name="Shape 9"/>
          <p:cNvSpPr/>
          <p:nvPr/>
        </p:nvSpPr>
        <p:spPr>
          <a:xfrm>
            <a:off x="4251960" y="2331720"/>
            <a:ext cx="3429000" cy="2560320"/>
          </a:xfrm>
          <a:prstGeom prst="roundRect">
            <a:avLst>
              <a:gd name="adj" fmla="val 4286"/>
            </a:avLst>
          </a:prstGeom>
          <a:solidFill>
            <a:srgbClr val="E8F4FA"/>
          </a:solidFill>
          <a:ln w="12700">
            <a:solidFill>
              <a:srgbClr val="E8F4FA"/>
            </a:solidFill>
            <a:prstDash val="solid"/>
          </a:ln>
        </p:spPr>
      </p:sp>
      <p:sp>
        <p:nvSpPr>
          <p:cNvPr id="12" name="Text 10"/>
          <p:cNvSpPr/>
          <p:nvPr/>
        </p:nvSpPr>
        <p:spPr>
          <a:xfrm>
            <a:off x="4462272" y="2514600"/>
            <a:ext cx="3008376" cy="274320"/>
          </a:xfrm>
          <a:prstGeom prst="rect">
            <a:avLst/>
          </a:prstGeom>
          <a:noFill/>
          <a:ln/>
        </p:spPr>
        <p:txBody>
          <a:bodyPr wrap="square" lIns="0" tIns="0" rIns="0" bIns="0" rtlCol="0" anchor="ctr"/>
          <a:lstStyle/>
          <a:p>
            <a:pPr indent="0" marL="0">
              <a:buNone/>
            </a:pPr>
            <a:r>
              <a:rPr lang="en-US" sz="1100" b="1" dirty="0">
                <a:solidFill>
                  <a:srgbClr val="14161A"/>
                </a:solidFill>
              </a:rPr>
              <a:t>2. Evaluate, don’t copy</a:t>
            </a:r>
            <a:endParaRPr lang="en-US" sz="1100" dirty="0"/>
          </a:p>
        </p:txBody>
      </p:sp>
      <p:sp>
        <p:nvSpPr>
          <p:cNvPr id="13" name="Text 11"/>
          <p:cNvSpPr/>
          <p:nvPr/>
        </p:nvSpPr>
        <p:spPr>
          <a:xfrm>
            <a:off x="4462272" y="2898648"/>
            <a:ext cx="3008376" cy="1847088"/>
          </a:xfrm>
          <a:prstGeom prst="rect">
            <a:avLst/>
          </a:prstGeom>
          <a:noFill/>
          <a:ln/>
        </p:spPr>
        <p:txBody>
          <a:bodyPr wrap="square" lIns="0" tIns="0" rIns="0" bIns="0" rtlCol="0" anchor="t">
            <a:normAutofit/>
          </a:bodyPr>
          <a:lstStyle/>
          <a:p>
            <a:pPr indent="0" marL="0">
              <a:buNone/>
            </a:pPr>
            <a:r>
              <a:rPr lang="en-US" sz="950" dirty="0">
                <a:solidFill>
                  <a:srgbClr val="3C4346"/>
                </a:solidFill>
              </a:rPr>
              <a:t>I compared suggestions with the product principle: safety is a hard constraint; explanations must be visible; no unsupported stock claims.</a:t>
            </a:r>
            <a:endParaRPr lang="en-US" sz="950" dirty="0"/>
          </a:p>
        </p:txBody>
      </p:sp>
      <p:sp>
        <p:nvSpPr>
          <p:cNvPr id="14" name="Shape 12"/>
          <p:cNvSpPr/>
          <p:nvPr/>
        </p:nvSpPr>
        <p:spPr>
          <a:xfrm>
            <a:off x="7909560" y="2331720"/>
            <a:ext cx="3429000" cy="2560320"/>
          </a:xfrm>
          <a:prstGeom prst="roundRect">
            <a:avLst>
              <a:gd name="adj" fmla="val 4286"/>
            </a:avLst>
          </a:prstGeom>
          <a:solidFill>
            <a:srgbClr val="FCE9E3"/>
          </a:solidFill>
          <a:ln w="12700">
            <a:solidFill>
              <a:srgbClr val="FCE9E3"/>
            </a:solidFill>
            <a:prstDash val="solid"/>
          </a:ln>
        </p:spPr>
      </p:sp>
      <p:sp>
        <p:nvSpPr>
          <p:cNvPr id="15" name="Text 13"/>
          <p:cNvSpPr/>
          <p:nvPr/>
        </p:nvSpPr>
        <p:spPr>
          <a:xfrm>
            <a:off x="8119872" y="2514600"/>
            <a:ext cx="3008376" cy="274320"/>
          </a:xfrm>
          <a:prstGeom prst="rect">
            <a:avLst/>
          </a:prstGeom>
          <a:noFill/>
          <a:ln/>
        </p:spPr>
        <p:txBody>
          <a:bodyPr wrap="square" lIns="0" tIns="0" rIns="0" bIns="0" rtlCol="0" anchor="ctr"/>
          <a:lstStyle/>
          <a:p>
            <a:pPr indent="0" marL="0">
              <a:buNone/>
            </a:pPr>
            <a:r>
              <a:rPr lang="en-US" sz="1100" b="1" dirty="0">
                <a:solidFill>
                  <a:srgbClr val="14161A"/>
                </a:solidFill>
              </a:rPr>
              <a:t>3. Verify in code</a:t>
            </a:r>
            <a:endParaRPr lang="en-US" sz="1100" dirty="0"/>
          </a:p>
        </p:txBody>
      </p:sp>
      <p:sp>
        <p:nvSpPr>
          <p:cNvPr id="16" name="Text 14"/>
          <p:cNvSpPr/>
          <p:nvPr/>
        </p:nvSpPr>
        <p:spPr>
          <a:xfrm>
            <a:off x="8119872" y="2898648"/>
            <a:ext cx="3008376" cy="1847088"/>
          </a:xfrm>
          <a:prstGeom prst="rect">
            <a:avLst/>
          </a:prstGeom>
          <a:noFill/>
          <a:ln/>
        </p:spPr>
        <p:txBody>
          <a:bodyPr wrap="square" lIns="0" tIns="0" rIns="0" bIns="0" rtlCol="0" anchor="t">
            <a:normAutofit/>
          </a:bodyPr>
          <a:lstStyle/>
          <a:p>
            <a:pPr indent="0" marL="0">
              <a:buNone/>
            </a:pPr>
            <a:r>
              <a:rPr lang="en-US" sz="950" dirty="0">
                <a:solidFill>
                  <a:srgbClr val="3C4346"/>
                </a:solidFill>
              </a:rPr>
              <a:t>The final rules are deterministic, tested, and reviewable. AI output was adapted—not treated as a source of truth.</a:t>
            </a:r>
            <a:endParaRPr lang="en-US" sz="950" dirty="0"/>
          </a:p>
        </p:txBody>
      </p:sp>
      <p:sp>
        <p:nvSpPr>
          <p:cNvPr id="17" name="Text 15"/>
          <p:cNvSpPr/>
          <p:nvPr/>
        </p:nvSpPr>
        <p:spPr>
          <a:xfrm>
            <a:off x="658368" y="5559552"/>
            <a:ext cx="10287000" cy="347472"/>
          </a:xfrm>
          <a:prstGeom prst="rect">
            <a:avLst/>
          </a:prstGeom>
          <a:noFill/>
          <a:ln/>
        </p:spPr>
        <p:txBody>
          <a:bodyPr wrap="square" lIns="0" tIns="0" rIns="0" bIns="0" rtlCol="0" anchor="ctr">
            <a:normAutofit/>
          </a:bodyPr>
          <a:lstStyle/>
          <a:p>
            <a:pPr indent="0" marL="0">
              <a:buNone/>
            </a:pPr>
            <a:r>
              <a:rPr lang="en-US" sz="1000" dirty="0">
                <a:solidFill>
                  <a:srgbClr val="697078"/>
                </a:solidFill>
              </a:rPr>
              <a:t>Important: these are examples of the collaboration process, not evidence of user research. The product claims are supported by explicit rules and clearly-labelled demo data.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D9DDD5"/>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697078"/>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697078"/>
                </a:solidFill>
              </a:rPr>
              <a:t>13</a:t>
            </a:r>
            <a:endParaRPr lang="en-US" sz="700" dirty="0"/>
          </a:p>
        </p:txBody>
      </p:sp>
      <p:sp>
        <p:nvSpPr>
          <p:cNvPr id="5" name="Text 3"/>
          <p:cNvSpPr/>
          <p:nvPr/>
        </p:nvSpPr>
        <p:spPr>
          <a:xfrm>
            <a:off x="566928" y="475488"/>
            <a:ext cx="5852160" cy="201168"/>
          </a:xfrm>
          <a:prstGeom prst="rect">
            <a:avLst/>
          </a:prstGeom>
          <a:noFill/>
          <a:ln/>
        </p:spPr>
        <p:txBody>
          <a:bodyPr wrap="square" lIns="0" tIns="0" rIns="0" bIns="0" rtlCol="0" anchor="ctr"/>
          <a:lstStyle/>
          <a:p>
            <a:pPr indent="0" marL="0">
              <a:buNone/>
            </a:pPr>
            <a:r>
              <a:rPr lang="en-US" sz="800" b="1" spc="150" kern="0" dirty="0">
                <a:solidFill>
                  <a:srgbClr val="697078"/>
                </a:solidFill>
              </a:rPr>
              <a:t>WHAT IS REAL, WHAT IS NEXT</a:t>
            </a:r>
            <a:endParaRPr lang="en-US" sz="800" dirty="0"/>
          </a:p>
        </p:txBody>
      </p:sp>
      <p:sp>
        <p:nvSpPr>
          <p:cNvPr id="6" name="Text 4"/>
          <p:cNvSpPr/>
          <p:nvPr/>
        </p:nvSpPr>
        <p:spPr>
          <a:xfrm>
            <a:off x="548640" y="832104"/>
            <a:ext cx="10789920" cy="713232"/>
          </a:xfrm>
          <a:prstGeom prst="rect">
            <a:avLst/>
          </a:prstGeom>
          <a:noFill/>
          <a:ln/>
        </p:spPr>
        <p:txBody>
          <a:bodyPr wrap="square" lIns="0" tIns="0" rIns="0" bIns="0" rtlCol="0" anchor="ctr">
            <a:normAutofit/>
          </a:bodyPr>
          <a:lstStyle/>
          <a:p>
            <a:pPr indent="0" marL="0">
              <a:buNone/>
            </a:pPr>
            <a:r>
              <a:rPr lang="en-US" sz="2700" b="1" dirty="0">
                <a:solidFill>
                  <a:srgbClr val="14161A"/>
                </a:solidFill>
              </a:rPr>
              <a:t>The prototype is honest about its evidence boundary.</a:t>
            </a:r>
            <a:endParaRPr lang="en-US" sz="2700" dirty="0"/>
          </a:p>
        </p:txBody>
      </p:sp>
      <p:sp>
        <p:nvSpPr>
          <p:cNvPr id="7" name="Text 5"/>
          <p:cNvSpPr/>
          <p:nvPr/>
        </p:nvSpPr>
        <p:spPr>
          <a:xfrm>
            <a:off x="566928" y="1627632"/>
            <a:ext cx="9966960" cy="402336"/>
          </a:xfrm>
          <a:prstGeom prst="rect">
            <a:avLst/>
          </a:prstGeom>
          <a:noFill/>
          <a:ln/>
        </p:spPr>
        <p:txBody>
          <a:bodyPr wrap="square" lIns="0" tIns="0" rIns="0" bIns="0" rtlCol="0" anchor="ctr">
            <a:normAutofit/>
          </a:bodyPr>
          <a:lstStyle/>
          <a:p>
            <a:pPr indent="0" marL="0">
              <a:buNone/>
            </a:pPr>
            <a:r>
              <a:rPr lang="en-US" sz="1200" dirty="0">
                <a:solidFill>
                  <a:srgbClr val="697078"/>
                </a:solidFill>
              </a:rPr>
              <a:t>The aim was to validate the interaction model before assuming access to retailer systems.</a:t>
            </a:r>
            <a:endParaRPr lang="en-US" sz="1200" dirty="0"/>
          </a:p>
        </p:txBody>
      </p:sp>
      <p:sp>
        <p:nvSpPr>
          <p:cNvPr id="8" name="Shape 6"/>
          <p:cNvSpPr/>
          <p:nvPr/>
        </p:nvSpPr>
        <p:spPr>
          <a:xfrm>
            <a:off x="594360" y="2395728"/>
            <a:ext cx="5166360" cy="2468880"/>
          </a:xfrm>
          <a:prstGeom prst="roundRect">
            <a:avLst>
              <a:gd name="adj" fmla="val 4444"/>
            </a:avLst>
          </a:prstGeom>
          <a:solidFill>
            <a:srgbClr val="E9ECE5"/>
          </a:solidFill>
          <a:ln w="12700">
            <a:solidFill>
              <a:srgbClr val="E9ECE5"/>
            </a:solidFill>
            <a:prstDash val="solid"/>
          </a:ln>
        </p:spPr>
      </p:sp>
      <p:sp>
        <p:nvSpPr>
          <p:cNvPr id="9" name="Text 7"/>
          <p:cNvSpPr/>
          <p:nvPr/>
        </p:nvSpPr>
        <p:spPr>
          <a:xfrm>
            <a:off x="804672" y="2578608"/>
            <a:ext cx="4745736" cy="274320"/>
          </a:xfrm>
          <a:prstGeom prst="rect">
            <a:avLst/>
          </a:prstGeom>
          <a:noFill/>
          <a:ln/>
        </p:spPr>
        <p:txBody>
          <a:bodyPr wrap="square" lIns="0" tIns="0" rIns="0" bIns="0" rtlCol="0" anchor="ctr"/>
          <a:lstStyle/>
          <a:p>
            <a:pPr indent="0" marL="0">
              <a:buNone/>
            </a:pPr>
            <a:r>
              <a:rPr lang="en-US" sz="1100" b="1" dirty="0">
                <a:solidFill>
                  <a:srgbClr val="14161A"/>
                </a:solidFill>
              </a:rPr>
              <a:t>Prototype today</a:t>
            </a:r>
            <a:endParaRPr lang="en-US" sz="1100" dirty="0"/>
          </a:p>
        </p:txBody>
      </p:sp>
      <p:sp>
        <p:nvSpPr>
          <p:cNvPr id="10" name="Text 8"/>
          <p:cNvSpPr/>
          <p:nvPr/>
        </p:nvSpPr>
        <p:spPr>
          <a:xfrm>
            <a:off x="804672" y="2962656"/>
            <a:ext cx="4745736" cy="1755648"/>
          </a:xfrm>
          <a:prstGeom prst="rect">
            <a:avLst/>
          </a:prstGeom>
          <a:noFill/>
          <a:ln/>
        </p:spPr>
        <p:txBody>
          <a:bodyPr wrap="square" lIns="0" tIns="0" rIns="0" bIns="0" rtlCol="0" anchor="t">
            <a:normAutofit/>
          </a:bodyPr>
          <a:lstStyle/>
          <a:p>
            <a:pPr indent="0" marL="0">
              <a:buNone/>
            </a:pPr>
            <a:r>
              <a:rPr lang="en-US" sz="950" dirty="0">
                <a:solidFill>
                  <a:srgbClr val="3C4346"/>
                </a:solidFill>
              </a:rPr>
              <a:t>• Working shopping flow, offline persistence, running trolley total</a:t>
            </a:r>
            <a:endParaRPr lang="en-US" sz="950" dirty="0"/>
          </a:p>
          <a:p>
            <a:pPr indent="0" marL="0">
              <a:buNone/>
            </a:pPr>
            <a:r>
              <a:rPr lang="en-US" sz="950" dirty="0">
                <a:solidFill>
                  <a:srgbClr val="3C4346"/>
                </a:solidFill>
              </a:rPr>
              <a:t>• Deterministic, tested suggestion / substitution rules</a:t>
            </a:r>
            <a:endParaRPr lang="en-US" sz="950" dirty="0"/>
          </a:p>
          <a:p>
            <a:pPr indent="0" marL="0">
              <a:buNone/>
            </a:pPr>
            <a:r>
              <a:rPr lang="en-US" sz="950" dirty="0">
                <a:solidFill>
                  <a:srgbClr val="3C4346"/>
                </a:solidFill>
              </a:rPr>
              <a:t>• Seeded Tesco Express product, stock, route, and purchase data</a:t>
            </a:r>
            <a:endParaRPr lang="en-US" sz="950" dirty="0"/>
          </a:p>
          <a:p>
            <a:pPr indent="0" marL="0">
              <a:buNone/>
            </a:pPr>
            <a:r>
              <a:rPr lang="en-US" sz="950" dirty="0">
                <a:solidFill>
                  <a:srgbClr val="3C4346"/>
                </a:solidFill>
              </a:rPr>
              <a:t>• Catalogue prices, not till prices — unpriced lines counted, never hidden</a:t>
            </a:r>
            <a:endParaRPr lang="en-US" sz="950" dirty="0"/>
          </a:p>
        </p:txBody>
      </p:sp>
      <p:sp>
        <p:nvSpPr>
          <p:cNvPr id="11" name="Shape 9"/>
          <p:cNvSpPr/>
          <p:nvPr/>
        </p:nvSpPr>
        <p:spPr>
          <a:xfrm>
            <a:off x="6053328" y="2395728"/>
            <a:ext cx="5166360" cy="2468880"/>
          </a:xfrm>
          <a:prstGeom prst="roundRect">
            <a:avLst>
              <a:gd name="adj" fmla="val 4444"/>
            </a:avLst>
          </a:prstGeom>
          <a:solidFill>
            <a:srgbClr val="E8F4FA"/>
          </a:solidFill>
          <a:ln w="12700">
            <a:solidFill>
              <a:srgbClr val="E8F4FA"/>
            </a:solidFill>
            <a:prstDash val="solid"/>
          </a:ln>
        </p:spPr>
      </p:sp>
      <p:sp>
        <p:nvSpPr>
          <p:cNvPr id="12" name="Text 10"/>
          <p:cNvSpPr/>
          <p:nvPr/>
        </p:nvSpPr>
        <p:spPr>
          <a:xfrm>
            <a:off x="6263640" y="2578608"/>
            <a:ext cx="4745736" cy="274320"/>
          </a:xfrm>
          <a:prstGeom prst="rect">
            <a:avLst/>
          </a:prstGeom>
          <a:noFill/>
          <a:ln/>
        </p:spPr>
        <p:txBody>
          <a:bodyPr wrap="square" lIns="0" tIns="0" rIns="0" bIns="0" rtlCol="0" anchor="ctr"/>
          <a:lstStyle/>
          <a:p>
            <a:pPr indent="0" marL="0">
              <a:buNone/>
            </a:pPr>
            <a:r>
              <a:rPr lang="en-US" sz="1100" b="1" dirty="0">
                <a:solidFill>
                  <a:srgbClr val="14161A"/>
                </a:solidFill>
              </a:rPr>
              <a:t>Production next</a:t>
            </a:r>
            <a:endParaRPr lang="en-US" sz="1100" dirty="0"/>
          </a:p>
        </p:txBody>
      </p:sp>
      <p:sp>
        <p:nvSpPr>
          <p:cNvPr id="13" name="Text 11"/>
          <p:cNvSpPr/>
          <p:nvPr/>
        </p:nvSpPr>
        <p:spPr>
          <a:xfrm>
            <a:off x="6263640" y="2962656"/>
            <a:ext cx="4745736" cy="1755648"/>
          </a:xfrm>
          <a:prstGeom prst="rect">
            <a:avLst/>
          </a:prstGeom>
          <a:noFill/>
          <a:ln/>
        </p:spPr>
        <p:txBody>
          <a:bodyPr wrap="square" lIns="0" tIns="0" rIns="0" bIns="0" rtlCol="0" anchor="t">
            <a:normAutofit/>
          </a:bodyPr>
          <a:lstStyle/>
          <a:p>
            <a:pPr indent="0" marL="0">
              <a:buNone/>
            </a:pPr>
            <a:r>
              <a:rPr lang="en-US" sz="950" dirty="0">
                <a:solidFill>
                  <a:srgbClr val="3C4346"/>
                </a:solidFill>
              </a:rPr>
              <a:t>• Interviews and usability tests with repeat shoppers</a:t>
            </a:r>
            <a:endParaRPr lang="en-US" sz="950" dirty="0"/>
          </a:p>
          <a:p>
            <a:pPr indent="0" marL="0">
              <a:buNone/>
            </a:pPr>
            <a:r>
              <a:rPr lang="en-US" sz="950" dirty="0">
                <a:solidFill>
                  <a:srgbClr val="3C4346"/>
                </a:solidFill>
              </a:rPr>
              <a:t>• Retailer product + price integration, priced at the till</a:t>
            </a:r>
            <a:endParaRPr lang="en-US" sz="950" dirty="0"/>
          </a:p>
          <a:p>
            <a:pPr indent="0" marL="0">
              <a:buNone/>
            </a:pPr>
            <a:r>
              <a:rPr lang="en-US" sz="950" dirty="0">
                <a:solidFill>
                  <a:srgbClr val="3C4346"/>
                </a:solidFill>
              </a:rPr>
              <a:t>• Verified branch-level layout source</a:t>
            </a:r>
            <a:endParaRPr lang="en-US" sz="950" dirty="0"/>
          </a:p>
          <a:p>
            <a:pPr indent="0" marL="0">
              <a:buNone/>
            </a:pPr>
            <a:r>
              <a:rPr lang="en-US" sz="950" dirty="0">
                <a:solidFill>
                  <a:srgbClr val="3C4346"/>
                </a:solidFill>
              </a:rPr>
              <a:t>• Account-based sync and shared household lists</a:t>
            </a:r>
            <a:endParaRPr lang="en-US" sz="950" dirty="0"/>
          </a:p>
        </p:txBody>
      </p:sp>
      <p:sp>
        <p:nvSpPr>
          <p:cNvPr id="14" name="Text 12"/>
          <p:cNvSpPr/>
          <p:nvPr/>
        </p:nvSpPr>
        <p:spPr>
          <a:xfrm>
            <a:off x="621792" y="5184648"/>
            <a:ext cx="320040" cy="411480"/>
          </a:xfrm>
          <a:prstGeom prst="rect">
            <a:avLst/>
          </a:prstGeom>
          <a:noFill/>
          <a:ln/>
        </p:spPr>
        <p:txBody>
          <a:bodyPr wrap="square" lIns="0" tIns="0" rIns="0" bIns="0" rtlCol="0" anchor="ctr"/>
          <a:lstStyle/>
          <a:p>
            <a:pPr indent="0" marL="0">
              <a:buNone/>
            </a:pPr>
            <a:r>
              <a:rPr lang="en-US" sz="3200" dirty="0">
                <a:solidFill>
                  <a:srgbClr val="D8F05A"/>
                </a:solidFill>
              </a:rPr>
              <a:t>“</a:t>
            </a:r>
            <a:endParaRPr lang="en-US" sz="3200" dirty="0"/>
          </a:p>
        </p:txBody>
      </p:sp>
      <p:sp>
        <p:nvSpPr>
          <p:cNvPr id="15" name="Text 13"/>
          <p:cNvSpPr/>
          <p:nvPr/>
        </p:nvSpPr>
        <p:spPr>
          <a:xfrm>
            <a:off x="987552" y="5413248"/>
            <a:ext cx="9692640" cy="777240"/>
          </a:xfrm>
          <a:prstGeom prst="rect">
            <a:avLst/>
          </a:prstGeom>
          <a:noFill/>
          <a:ln/>
        </p:spPr>
        <p:txBody>
          <a:bodyPr wrap="square" lIns="0" tIns="0" rIns="0" bIns="0" rtlCol="0" anchor="ctr">
            <a:normAutofit/>
          </a:bodyPr>
          <a:lstStyle/>
          <a:p>
            <a:pPr indent="0" marL="0">
              <a:buNone/>
            </a:pPr>
            <a:r>
              <a:rPr lang="en-US" sz="1900" b="1" dirty="0">
                <a:solidFill>
                  <a:srgbClr val="14161A"/>
                </a:solidFill>
              </a:rPr>
              <a:t>Without verified store data, Sweep falls back to category order instead of pretending it knows an aisle.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14161A"/>
        </a:solidFill>
      </p:bgPr>
    </p:bg>
    <p:spTree>
      <p:nvGrpSpPr>
        <p:cNvPr id="1" name=""/>
        <p:cNvGrpSpPr/>
        <p:nvPr/>
      </p:nvGrpSpPr>
      <p:grpSpPr>
        <a:xfrm>
          <a:off x="0" y="0"/>
          <a:ext cx="0" cy="0"/>
          <a:chOff x="0" y="0"/>
          <a:chExt cx="0" cy="0"/>
        </a:xfrm>
      </p:grpSpPr>
      <p:sp>
        <p:nvSpPr>
          <p:cNvPr id="2" name="Shape 0"/>
          <p:cNvSpPr/>
          <p:nvPr/>
        </p:nvSpPr>
        <p:spPr>
          <a:xfrm>
            <a:off x="502920" y="6473952"/>
            <a:ext cx="11173968" cy="0"/>
          </a:xfrm>
          <a:prstGeom prst="line">
            <a:avLst/>
          </a:prstGeom>
          <a:noFill/>
          <a:ln w="10160">
            <a:solidFill>
              <a:srgbClr val="364047"/>
            </a:solidFill>
            <a:prstDash val="solid"/>
          </a:ln>
        </p:spPr>
      </p:sp>
      <p:sp>
        <p:nvSpPr>
          <p:cNvPr id="3" name="Text 1"/>
          <p:cNvSpPr/>
          <p:nvPr/>
        </p:nvSpPr>
        <p:spPr>
          <a:xfrm>
            <a:off x="548640" y="6565392"/>
            <a:ext cx="3840480" cy="164592"/>
          </a:xfrm>
          <a:prstGeom prst="rect">
            <a:avLst/>
          </a:prstGeom>
          <a:noFill/>
          <a:ln/>
        </p:spPr>
        <p:txBody>
          <a:bodyPr wrap="square" lIns="0" tIns="0" rIns="0" bIns="0" rtlCol="0" anchor="ctr"/>
          <a:lstStyle/>
          <a:p>
            <a:pPr indent="0" marL="0">
              <a:buNone/>
            </a:pPr>
            <a:r>
              <a:rPr lang="en-US" sz="650" spc="160" kern="0" dirty="0">
                <a:solidFill>
                  <a:srgbClr val="A5ADB1"/>
                </a:solidFill>
                <a:latin typeface="Arial" pitchFamily="34" charset="0"/>
                <a:ea typeface="Arial" pitchFamily="34" charset="-122"/>
                <a:cs typeface="Arial" pitchFamily="34" charset="-120"/>
              </a:rPr>
              <a:t>SWEEP  /  ALGO1 CASE STUDY</a:t>
            </a:r>
            <a:endParaRPr lang="en-US" sz="650" dirty="0"/>
          </a:p>
        </p:txBody>
      </p:sp>
      <p:sp>
        <p:nvSpPr>
          <p:cNvPr id="4" name="Text 2"/>
          <p:cNvSpPr/>
          <p:nvPr/>
        </p:nvSpPr>
        <p:spPr>
          <a:xfrm>
            <a:off x="11109960" y="6537960"/>
            <a:ext cx="502920" cy="182880"/>
          </a:xfrm>
          <a:prstGeom prst="rect">
            <a:avLst/>
          </a:prstGeom>
          <a:noFill/>
          <a:ln/>
        </p:spPr>
        <p:txBody>
          <a:bodyPr wrap="square" lIns="0" tIns="0" rIns="0" bIns="0" rtlCol="0" anchor="ctr"/>
          <a:lstStyle/>
          <a:p>
            <a:pPr algn="r" indent="0" marL="0">
              <a:buNone/>
            </a:pPr>
            <a:r>
              <a:rPr lang="en-US" sz="700" spc="130" kern="0" dirty="0">
                <a:solidFill>
                  <a:srgbClr val="A5ADB1"/>
                </a:solidFill>
              </a:rPr>
              <a:t>14</a:t>
            </a:r>
            <a:endParaRPr lang="en-US" sz="700" dirty="0"/>
          </a:p>
        </p:txBody>
      </p:sp>
      <p:sp>
        <p:nvSpPr>
          <p:cNvPr id="5" name="Text 3"/>
          <p:cNvSpPr/>
          <p:nvPr/>
        </p:nvSpPr>
        <p:spPr>
          <a:xfrm>
            <a:off x="594360" y="694944"/>
            <a:ext cx="2194560" cy="274320"/>
          </a:xfrm>
          <a:prstGeom prst="rect">
            <a:avLst/>
          </a:prstGeom>
          <a:noFill/>
          <a:ln/>
        </p:spPr>
        <p:txBody>
          <a:bodyPr wrap="square" lIns="0" tIns="0" rIns="0" bIns="0" rtlCol="0" anchor="ctr"/>
          <a:lstStyle/>
          <a:p>
            <a:pPr indent="0" marL="0">
              <a:buNone/>
            </a:pPr>
            <a:r>
              <a:rPr lang="en-US" sz="1200" b="1" spc="400" kern="0" dirty="0">
                <a:solidFill>
                  <a:srgbClr val="D8F05A"/>
                </a:solidFill>
              </a:rPr>
              <a:t>SWEEP</a:t>
            </a:r>
            <a:endParaRPr lang="en-US" sz="1200" dirty="0"/>
          </a:p>
        </p:txBody>
      </p:sp>
      <p:sp>
        <p:nvSpPr>
          <p:cNvPr id="6" name="Text 4"/>
          <p:cNvSpPr/>
          <p:nvPr/>
        </p:nvSpPr>
        <p:spPr>
          <a:xfrm>
            <a:off x="594360" y="1417320"/>
            <a:ext cx="7406640" cy="1280160"/>
          </a:xfrm>
          <a:prstGeom prst="rect">
            <a:avLst/>
          </a:prstGeom>
          <a:noFill/>
          <a:ln/>
        </p:spPr>
        <p:txBody>
          <a:bodyPr wrap="square" lIns="0" tIns="0" rIns="0" bIns="0" rtlCol="0" anchor="ctr">
            <a:normAutofit/>
          </a:bodyPr>
          <a:lstStyle/>
          <a:p>
            <a:pPr indent="0" marL="0">
              <a:buNone/>
            </a:pPr>
            <a:r>
              <a:rPr lang="en-US" sz="3600" b="1" dirty="0">
                <a:solidFill>
                  <a:srgbClr val="FBFAF4"/>
                </a:solidFill>
              </a:rPr>
              <a:t>A better list</a:t>
            </a:r>
            <a:endParaRPr lang="en-US" sz="3600" dirty="0"/>
          </a:p>
          <a:p>
            <a:pPr indent="0" marL="0">
              <a:buNone/>
            </a:pPr>
            <a:r>
              <a:rPr lang="en-US" sz="3600" b="1" dirty="0">
                <a:solidFill>
                  <a:srgbClr val="FBFAF4"/>
                </a:solidFill>
              </a:rPr>
              <a:t>for the part that matters.</a:t>
            </a:r>
            <a:endParaRPr lang="en-US" sz="3600" dirty="0"/>
          </a:p>
        </p:txBody>
      </p:sp>
      <p:sp>
        <p:nvSpPr>
          <p:cNvPr id="7" name="Text 5"/>
          <p:cNvSpPr/>
          <p:nvPr/>
        </p:nvSpPr>
        <p:spPr>
          <a:xfrm>
            <a:off x="621792" y="3200400"/>
            <a:ext cx="8046720" cy="402336"/>
          </a:xfrm>
          <a:prstGeom prst="rect">
            <a:avLst/>
          </a:prstGeom>
          <a:noFill/>
          <a:ln/>
        </p:spPr>
        <p:txBody>
          <a:bodyPr wrap="square" lIns="0" tIns="0" rIns="0" bIns="0" rtlCol="0" anchor="ctr">
            <a:normAutofit/>
          </a:bodyPr>
          <a:lstStyle/>
          <a:p>
            <a:pPr indent="0" marL="0">
              <a:buNone/>
            </a:pPr>
            <a:r>
              <a:rPr lang="en-US" sz="1400" dirty="0">
                <a:solidFill>
                  <a:srgbClr val="CDD2D0"/>
                </a:solidFill>
              </a:rPr>
              <a:t>The question I would validate next: does guided trip mode materially reduce time, backtracking, and uncertainty for repeat shoppers?</a:t>
            </a:r>
            <a:endParaRPr lang="en-US" sz="1400" dirty="0"/>
          </a:p>
        </p:txBody>
      </p:sp>
      <p:sp>
        <p:nvSpPr>
          <p:cNvPr id="8" name="Shape 6"/>
          <p:cNvSpPr/>
          <p:nvPr/>
        </p:nvSpPr>
        <p:spPr>
          <a:xfrm>
            <a:off x="8732520" y="4279392"/>
            <a:ext cx="2331720" cy="960120"/>
          </a:xfrm>
          <a:prstGeom prst="roundRect">
            <a:avLst>
              <a:gd name="adj" fmla="val 17143"/>
            </a:avLst>
          </a:prstGeom>
          <a:solidFill>
            <a:srgbClr val="D8F05A"/>
          </a:solidFill>
          <a:ln w="12700">
            <a:solidFill>
              <a:srgbClr val="D8F05A"/>
            </a:solidFill>
            <a:prstDash val="solid"/>
          </a:ln>
        </p:spPr>
      </p:sp>
      <p:sp>
        <p:nvSpPr>
          <p:cNvPr id="9" name="Text 7"/>
          <p:cNvSpPr/>
          <p:nvPr/>
        </p:nvSpPr>
        <p:spPr>
          <a:xfrm>
            <a:off x="8732520" y="4608576"/>
            <a:ext cx="2331720" cy="274320"/>
          </a:xfrm>
          <a:prstGeom prst="rect">
            <a:avLst/>
          </a:prstGeom>
          <a:noFill/>
          <a:ln/>
        </p:spPr>
        <p:txBody>
          <a:bodyPr wrap="square" lIns="0" tIns="0" rIns="0" bIns="0" rtlCol="0" anchor="ctr"/>
          <a:lstStyle/>
          <a:p>
            <a:pPr algn="ctr" indent="0" marL="0">
              <a:buNone/>
            </a:pPr>
            <a:r>
              <a:rPr lang="en-US" sz="1800" b="1" dirty="0">
                <a:solidFill>
                  <a:srgbClr val="14161A"/>
                </a:solidFill>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Sweep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Sweep — Algo1 Case Study</dc:title>
  <dc:subject>Algo1 technical product case study</dc:subject>
  <dc:creator>Sweep</dc:creator>
  <cp:lastModifiedBy>Sweep</cp:lastModifiedBy>
  <cp:revision>1</cp:revision>
  <dcterms:created xsi:type="dcterms:W3CDTF">2026-08-24T13:15:36Z</dcterms:created>
  <dcterms:modified xsi:type="dcterms:W3CDTF">2026-08-24T13:15:36Z</dcterms:modified>
</cp:coreProperties>
</file>