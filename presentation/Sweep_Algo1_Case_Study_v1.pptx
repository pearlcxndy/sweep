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364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A5AD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A5ADB1"/>
                </a:solidFill>
              </a:rPr>
              <a:t>01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046720" y="548640"/>
            <a:ext cx="3108960" cy="3108960"/>
          </a:xfrm>
          <a:prstGeom prst="arc">
            <a:avLst/>
          </a:prstGeom>
          <a:noFill/>
          <a:ln w="228600">
            <a:solidFill>
              <a:srgbClr val="D8F0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3822192"/>
            <a:ext cx="2423160" cy="1005840"/>
          </a:xfrm>
          <a:prstGeom prst="roundRect">
            <a:avLst>
              <a:gd name="adj" fmla="val 18182"/>
            </a:avLst>
          </a:prstGeom>
          <a:solidFill>
            <a:srgbClr val="D8F05A"/>
          </a:solidFill>
          <a:ln w="12700">
            <a:solidFill>
              <a:srgbClr val="D8F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21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8F05A"/>
                </a:solidFill>
              </a:rPr>
              <a:t>SWEEP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7132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BFAF4"/>
                </a:solidFill>
              </a:rPr>
              <a:t>The shopping list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BFAF4"/>
                </a:solidFill>
              </a:rPr>
              <a:t>that helps in the shop.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76072" y="31638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CC"/>
                </a:solidFill>
              </a:rPr>
              <a:t>Algo1 Technical Product Case Study  ·  Product walkthrough + code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53583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05A"/>
                </a:solidFill>
              </a:rPr>
              <a:t>A prototype for the 40 minutes inside the supermarket.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9DD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69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697078"/>
                </a:solidFill>
              </a:rPr>
              <a:t>02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97078"/>
                </a:solidFill>
              </a:rPr>
              <a:t>THE OPPORTUNITY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</a:rPr>
              <a:t>Lists remember items. They do not help shoppers decide.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078"/>
                </a:solidFill>
              </a:rPr>
              <a:t>I focused the product on the moment a normal list becomes least useful: inside the store.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3520440" cy="2359152"/>
          </a:xfrm>
          <a:prstGeom prst="roundRect">
            <a:avLst>
              <a:gd name="adj" fmla="val 4651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Remember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98648"/>
            <a:ext cx="30998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Did I forget milk, bin bags, or a staple I normally buy?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5968" y="2331720"/>
            <a:ext cx="3520440" cy="2359152"/>
          </a:xfrm>
          <a:prstGeom prst="roundRect">
            <a:avLst>
              <a:gd name="adj" fmla="val 4651"/>
            </a:avLst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5146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Navigate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898648"/>
            <a:ext cx="30998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Where is the next item in this particular store—and am I walking backwards?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2331720"/>
            <a:ext cx="3520440" cy="2359152"/>
          </a:xfrm>
          <a:prstGeom prst="roundRect">
            <a:avLst>
              <a:gd name="adj" fmla="val 4651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51460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Resolve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898648"/>
            <a:ext cx="30998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What is a safe replacement when the shelf is empty?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937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8F05A"/>
                </a:solidFill>
              </a:rPr>
              <a:t>“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60120" y="516636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161A"/>
                </a:solidFill>
              </a:rPr>
              <a:t>The opportunity is not a smarter checklist; it is fewer decisions during the trip.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9DD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69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697078"/>
                </a:solidFill>
              </a:rPr>
              <a:t>03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97078"/>
                </a:solidFill>
              </a:rPr>
              <a:t>TARGET SHOPPER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</a:rPr>
              <a:t>Sarah: a repeat shopper with a regular branch.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078"/>
                </a:solidFill>
              </a:rPr>
              <a:t>A concrete persona makes the product’s useful signal—and its limits—clear.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2011680" cy="2011680"/>
          </a:xfrm>
          <a:prstGeom prst="ellipse">
            <a:avLst/>
          </a:prstGeom>
          <a:solidFill>
            <a:srgbClr val="D8F05A"/>
          </a:solidFill>
          <a:ln w="12700">
            <a:solidFill>
              <a:srgbClr val="D8F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14553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SARAH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2267712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245059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Behaviour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4992" y="2834640"/>
            <a:ext cx="209397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Big shop every two weeks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Small top-up midweek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Usually shops at one branch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25312" y="2267712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245059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Need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35624" y="2834640"/>
            <a:ext cx="209397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A familiar, quick route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Reminders with reasons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Low-effort recovery when stock is missing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0" y="2267712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7112" y="245059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Constraint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97112" y="2834640"/>
            <a:ext cx="209397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Some items cannot be casually substituted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Connectivity may be weak in-store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5230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97078"/>
                </a:solidFill>
              </a:rPr>
              <a:t>Research note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10469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078"/>
                </a:solidFill>
              </a:rPr>
              <a:t>This case-study prototype uses a reasoned persona and seeded history. It does not claim the demo data is real user research; validating the assumptions with repeat shoppers is the next step.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364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A5AD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A5ADB1"/>
                </a:solidFill>
              </a:rPr>
              <a:t>04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8F05A"/>
                </a:solidFill>
              </a:rPr>
              <a:t>PRODUCT INSPIRATION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BFAF4"/>
                </a:solidFill>
              </a:rPr>
              <a:t>A shopping list should change mode when the shopper enters the store.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DD2D0"/>
                </a:solidFill>
              </a:rPr>
              <a:t>Planning is a list-management task. Shopping is a navigation and decision-support task.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468880"/>
            <a:ext cx="4983480" cy="2423160"/>
          </a:xfrm>
          <a:prstGeom prst="roundRect">
            <a:avLst>
              <a:gd name="adj" fmla="val 6792"/>
            </a:avLst>
          </a:prstGeom>
          <a:solidFill>
            <a:srgbClr val="20262B"/>
          </a:solidFill>
          <a:ln w="12700">
            <a:solidFill>
              <a:srgbClr val="202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7797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8F05A"/>
                </a:solidFill>
              </a:rPr>
              <a:t>BEFORE THE SHOP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2688" y="31821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BFAF4"/>
                </a:solidFill>
              </a:rPr>
              <a:t>A calm list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BFAF4"/>
                </a:solidFill>
              </a:rPr>
              <a:t>with suggestions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32688" y="4187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FCC"/>
                </a:solidFill>
              </a:rPr>
              <a:t>Add, remove, review, and prepare.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70448" y="3291840"/>
            <a:ext cx="438912" cy="640080"/>
          </a:xfrm>
          <a:prstGeom prst="chevron">
            <a:avLst/>
          </a:prstGeom>
          <a:solidFill>
            <a:srgbClr val="D8F05A"/>
          </a:solidFill>
          <a:ln w="12700">
            <a:solidFill>
              <a:srgbClr val="D8F0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65392" y="2468880"/>
            <a:ext cx="4983480" cy="2423160"/>
          </a:xfrm>
          <a:prstGeom prst="roundRect">
            <a:avLst>
              <a:gd name="adj" fmla="val 6792"/>
            </a:avLst>
          </a:prstGeom>
          <a:solidFill>
            <a:srgbClr val="D8F05A"/>
          </a:solidFill>
          <a:ln w="12700">
            <a:solidFill>
              <a:srgbClr val="D8F0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27797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161A"/>
                </a:solidFill>
              </a:rPr>
              <a:t>INSIDE THE SHOP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39712" y="31821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61A"/>
                </a:solidFill>
              </a:rPr>
              <a:t>One next item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4161A"/>
                </a:solidFill>
              </a:rPr>
              <a:t>at a time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839712" y="41879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7"/>
                </a:solidFill>
              </a:rPr>
              <a:t>Move forward, resolve gaps, finish cleanly.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51480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8F05A"/>
                </a:solidFill>
              </a:rPr>
              <a:t>“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51560" y="537667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BFAF4"/>
                </a:solidFill>
              </a:rPr>
              <a:t>This mode change is Sweep’s main product decision.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9DD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69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697078"/>
                </a:solidFill>
              </a:rPr>
              <a:t>05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97078"/>
                </a:solidFill>
              </a:rPr>
              <a:t>LIVE WALKTHROUGH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</a:rPr>
              <a:t>A four-minute story, from preparation to recovery.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078"/>
                </a:solidFill>
              </a:rPr>
              <a:t>Use these steps during the product demo rather than trying to show every screen.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87168"/>
            <a:ext cx="1993392" cy="2468880"/>
          </a:xfrm>
          <a:prstGeom prst="roundRect">
            <a:avLst>
              <a:gd name="adj" fmla="val 7339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724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97078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313639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Your list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3712464"/>
            <a:ext cx="1618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C4346"/>
                </a:solidFill>
              </a:rPr>
              <a:t>Suggestions have reasons; items are grouped by the store route.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834640" y="2487168"/>
            <a:ext cx="1993392" cy="2468880"/>
          </a:xfrm>
          <a:prstGeom prst="roundRect">
            <a:avLst>
              <a:gd name="adj" fmla="val 7339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724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8F05A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0" y="313639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FAF4"/>
                </a:solidFill>
              </a:rPr>
              <a:t>Start shopping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3712464"/>
            <a:ext cx="1618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DD2D0"/>
                </a:solidFill>
              </a:rPr>
              <a:t>The interface becomes focused trip mode: one item, one next action.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102352" y="2487168"/>
            <a:ext cx="1993392" cy="2468880"/>
          </a:xfrm>
          <a:prstGeom prst="roundRect">
            <a:avLst>
              <a:gd name="adj" fmla="val 7339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2724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97078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5232" y="313639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Not here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85232" y="3712464"/>
            <a:ext cx="1618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C4346"/>
                </a:solidFill>
              </a:rPr>
              <a:t>Milk shows transparent, ranked alternatives.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370064" y="2487168"/>
            <a:ext cx="1993392" cy="2468880"/>
          </a:xfrm>
          <a:prstGeom prst="roundRect">
            <a:avLst>
              <a:gd name="adj" fmla="val 7339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2724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97078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52944" y="313639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Protected loaf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52944" y="3712464"/>
            <a:ext cx="1618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C4346"/>
                </a:solidFill>
              </a:rPr>
              <a:t>A gluten-free item has no substitute because safety is a hard stop.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637776" y="2487168"/>
            <a:ext cx="1993392" cy="2468880"/>
          </a:xfrm>
          <a:prstGeom prst="roundRect">
            <a:avLst>
              <a:gd name="adj" fmla="val 7339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2724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97078"/>
                </a:solidFill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820656" y="313639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Finish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20656" y="3712464"/>
            <a:ext cx="1618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C4346"/>
                </a:solidFill>
              </a:rPr>
              <a:t>Skipped items roll to the next list; one swap question captures useful feedback.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594360" y="55595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078"/>
                </a:solidFill>
              </a:rPr>
              <a:t>Demo setup: the stock events are intentionally seeded so the two decision moments always appear. They are not presented as live store stock.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9DD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69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697078"/>
                </a:solidFill>
              </a:rPr>
              <a:t>06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97078"/>
                </a:solidFill>
              </a:rPr>
              <a:t>KEY PRODUCT DECISIONS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</a:rPr>
              <a:t>Trust comes from knowing when not to guess.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078"/>
                </a:solidFill>
              </a:rPr>
              <a:t>Each interaction has a deliberately limited promise.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377440"/>
            <a:ext cx="3520440" cy="2432304"/>
          </a:xfrm>
          <a:prstGeom prst="roundRect">
            <a:avLst>
              <a:gd name="adj" fmla="val 4511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603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Transparent suggestions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944368"/>
            <a:ext cx="30998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Median purchase intervals + confidence labels. A weak pattern is stated as unclear, rather than overclaimed.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5968" y="2377440"/>
            <a:ext cx="3520440" cy="2432304"/>
          </a:xfrm>
          <a:prstGeom prst="roundRect">
            <a:avLst>
              <a:gd name="adj" fmla="val 4511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5603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Safety before 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944368"/>
            <a:ext cx="30998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A never-substitute preference returns no alternatives. Dietary safety is a gate, not a lower score.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2377440"/>
            <a:ext cx="3520440" cy="2432304"/>
          </a:xfrm>
          <a:prstGeom prst="roundRect">
            <a:avLst>
              <a:gd name="adj" fmla="val 4511"/>
            </a:avLst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5603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Control over learning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44368"/>
            <a:ext cx="30998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Deleting an inference removes its underlying products from future suggestions; three dismissals retire an item.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5440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</a:rPr>
              <a:t>Principle: explain the input, preserve the shopper’s choice, and degrade honestly when data is missing.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364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A5AD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A5ADB1"/>
                </a:solidFill>
              </a:rPr>
              <a:t>07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8F05A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BFAF4"/>
                </a:solidFill>
              </a:rPr>
              <a:t>The product rules are separate from the interface and data source.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DD2D0"/>
                </a:solidFill>
              </a:rPr>
              <a:t>This makes the important decisions testable today and replaceable tomorrow.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2057400" cy="1371600"/>
          </a:xfrm>
          <a:prstGeom prst="roundRect">
            <a:avLst>
              <a:gd name="adj" fmla="val 10667"/>
            </a:avLst>
          </a:prstGeom>
          <a:solidFill>
            <a:srgbClr val="D8F05A"/>
          </a:solidFill>
          <a:ln w="12700">
            <a:solidFill>
              <a:srgbClr val="D8F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809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4161A"/>
                </a:solidFill>
              </a:rPr>
              <a:t>UI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161A"/>
                </a:solidFill>
              </a:rPr>
              <a:t>Next.js / React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4161A"/>
                </a:solidFill>
              </a:rPr>
              <a:t>Screens + components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27248" y="2743200"/>
            <a:ext cx="2057400" cy="1371600"/>
          </a:xfrm>
          <a:prstGeom prst="roundRect">
            <a:avLst>
              <a:gd name="adj" fmla="val 10667"/>
            </a:avLst>
          </a:prstGeom>
          <a:solidFill>
            <a:srgbClr val="30393D"/>
          </a:solidFill>
          <a:ln w="12700">
            <a:solidFill>
              <a:srgbClr val="303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9809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BFAF4"/>
                </a:solidFill>
              </a:rPr>
              <a:t>STATE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10128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BFAF4"/>
                </a:solidFill>
              </a:rPr>
              <a:t>Zustand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BFAF4"/>
                </a:solidFill>
              </a:rPr>
              <a:t>Persisted trip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68696" y="2743200"/>
            <a:ext cx="2057400" cy="1371600"/>
          </a:xfrm>
          <a:prstGeom prst="roundRect">
            <a:avLst>
              <a:gd name="adj" fmla="val 10667"/>
            </a:avLst>
          </a:prstGeom>
          <a:solidFill>
            <a:srgbClr val="30393D"/>
          </a:solidFill>
          <a:ln w="12700">
            <a:solidFill>
              <a:srgbClr val="303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51576" y="29809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BFAF4"/>
                </a:solidFill>
              </a:rPr>
              <a:t>DOMAIN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51576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BFAF4"/>
                </a:solidFill>
              </a:rPr>
              <a:t>Pure functions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BFAF4"/>
                </a:solidFill>
              </a:rPr>
              <a:t>Suggestions · safety · route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10144" y="2743200"/>
            <a:ext cx="2057400" cy="1371600"/>
          </a:xfrm>
          <a:prstGeom prst="roundRect">
            <a:avLst>
              <a:gd name="adj" fmla="val 10667"/>
            </a:avLst>
          </a:prstGeom>
          <a:solidFill>
            <a:srgbClr val="30393D"/>
          </a:solidFill>
          <a:ln w="12700">
            <a:solidFill>
              <a:srgbClr val="303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29809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BFAF4"/>
                </a:solidFill>
              </a:rPr>
              <a:t>DATA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93024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BFAF4"/>
                </a:solidFill>
              </a:rPr>
              <a:t>Repository boundary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BFAF4"/>
                </a:solidFill>
              </a:rPr>
              <a:t>Seed JSON now · API later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3218688"/>
            <a:ext cx="292608" cy="384048"/>
          </a:xfrm>
          <a:prstGeom prst="chevron">
            <a:avLst/>
          </a:prstGeom>
          <a:solidFill>
            <a:srgbClr val="596469"/>
          </a:solidFill>
          <a:ln w="12700">
            <a:solidFill>
              <a:srgbClr val="5964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3218688"/>
            <a:ext cx="292608" cy="384048"/>
          </a:xfrm>
          <a:prstGeom prst="chevron">
            <a:avLst/>
          </a:prstGeom>
          <a:solidFill>
            <a:srgbClr val="596469"/>
          </a:solidFill>
          <a:ln w="12700">
            <a:solidFill>
              <a:srgbClr val="5964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71816" y="3218688"/>
            <a:ext cx="292608" cy="384048"/>
          </a:xfrm>
          <a:prstGeom prst="chevron">
            <a:avLst/>
          </a:prstGeom>
          <a:solidFill>
            <a:srgbClr val="596469"/>
          </a:solidFill>
          <a:ln w="12700">
            <a:solidFill>
              <a:srgbClr val="5964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48646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D8F05A"/>
                </a:solidFill>
              </a:rPr>
              <a:t>Offline behaviour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44" y="51846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BFAF4"/>
                </a:solidFill>
              </a:rPr>
              <a:t>Trip actions apply immediately, persist locally, and queue with the time they happened. Poor signal should not interrupt a shop.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9DD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69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697078"/>
                </a:solidFill>
              </a:rPr>
              <a:t>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97078"/>
                </a:solidFill>
              </a:rPr>
              <a:t>CODE REVIEW TALKING POINTS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</a:rPr>
              <a:t>Four files explain the core of the product.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078"/>
                </a:solidFill>
              </a:rPr>
              <a:t>Start from decisions and behaviour; then show how the code enforces them.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0789920" cy="521208"/>
          </a:xfrm>
          <a:prstGeom prst="roundRect">
            <a:avLst>
              <a:gd name="adj" fmla="val 14035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domain/suggestions.ts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248716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078"/>
                </a:solidFill>
              </a:rPr>
              <a:t>Median intervals, confidence, exclusions, dismissal retirement.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10789920" cy="521208"/>
          </a:xfrm>
          <a:prstGeom prst="roundRect">
            <a:avLst>
              <a:gd name="adj" fmla="val 14035"/>
            </a:avLst>
          </a:prstGeom>
          <a:solidFill>
            <a:srgbClr val="FBFAF4"/>
          </a:solidFill>
          <a:ln w="12700">
            <a:solidFill>
              <a:srgbClr val="D9D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186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domain/substitutions.ts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321868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078"/>
                </a:solidFill>
              </a:rPr>
              <a:t>Protected item gate, dietary filter, explainable ranking.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10789920" cy="521208"/>
          </a:xfrm>
          <a:prstGeom prst="roundRect">
            <a:avLst>
              <a:gd name="adj" fmla="val 14035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502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domain/storeOrder.ts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395020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078"/>
                </a:solidFill>
              </a:rPr>
              <a:t>Branch placement order with category fallback if a layout is unknown.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526280"/>
            <a:ext cx="10789920" cy="521208"/>
          </a:xfrm>
          <a:prstGeom prst="roundRect">
            <a:avLst>
              <a:gd name="adj" fmla="val 14035"/>
            </a:avLst>
          </a:prstGeom>
          <a:solidFill>
            <a:srgbClr val="FBFAF4"/>
          </a:solidFill>
          <a:ln w="12700">
            <a:solidFill>
              <a:srgbClr val="D9DD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81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lib/store.ts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4681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078"/>
                </a:solidFill>
              </a:rPr>
              <a:t>Persisted list/trip state, optimistic updates, offline queueing.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553212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Quality check: 56 domain tests cover suggestion timing, confidence, safety gates, ranking, and route fallbacks. Lint passes.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9DD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69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697078"/>
                </a:solidFill>
              </a:rPr>
              <a:t>09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97078"/>
                </a:solidFill>
              </a:rPr>
              <a:t>HOW I USED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</a:rPr>
              <a:t>AI accelerated exploration; it did not make the product decisions for me.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078"/>
                </a:solidFill>
              </a:rPr>
              <a:t>I used it as a collaborator for alternatives, explanation, and implementation support—then checked the result against the brief and code.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5146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1. Frame a 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30083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Example working prompt: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“How should a shopping app behave when a product is unavailable but dietary safety matters?”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2331720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5146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2. Evaluate, don’t copy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62272" y="2898648"/>
            <a:ext cx="30083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I compared suggestions with the product principle: safety is a hard constraint; explanations must be visible; no unsupported stock claims.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09560" y="2331720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25146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3. Verify in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19872" y="2898648"/>
            <a:ext cx="30083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The final rules are deterministic, tested, and reviewable. AI output was adapted—not treated as a source of truth.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5559552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078"/>
                </a:solidFill>
              </a:rPr>
              <a:t>Important: these are examples of the collaboration process, not evidence of user research. The product claims are supported by explicit rules and clearly-labelled demo data.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9DD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69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697078"/>
                </a:solidFill>
              </a:rPr>
              <a:t>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97078"/>
                </a:solidFill>
              </a:rPr>
              <a:t>WHAT IS REAL, WHAT IS NEXT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3210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</a:rPr>
              <a:t>The prototype is honest about its evidence boundary.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078"/>
                </a:solidFill>
              </a:rPr>
              <a:t>The aim was to validate the interaction model before assuming access to retailer systems.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5166360" cy="2468880"/>
          </a:xfrm>
          <a:prstGeom prst="roundRect">
            <a:avLst>
              <a:gd name="adj" fmla="val 4444"/>
            </a:avLst>
          </a:prstGeom>
          <a:solidFill>
            <a:srgbClr val="E9ECE5"/>
          </a:solidFill>
          <a:ln w="12700">
            <a:solidFill>
              <a:srgbClr val="E9E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578608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Prototype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962656"/>
            <a:ext cx="4745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Working shopping flow and offline persistence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Deterministic, tested suggestion / substitution rules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Seeded Tesco Express product, stock, route, and purchase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Historic public product dataset explored for catalogue enrichment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53328" y="2395728"/>
            <a:ext cx="5166360" cy="2468880"/>
          </a:xfrm>
          <a:prstGeom prst="roundRect">
            <a:avLst>
              <a:gd name="adj" fmla="val 4444"/>
            </a:avLst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578608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A"/>
                </a:solidFill>
              </a:rPr>
              <a:t>Production next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962656"/>
            <a:ext cx="4745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Interviews and usability tests with repeat shoppers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Retailer product + price integration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Verified branch-level layout source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C4346"/>
                </a:solidFill>
              </a:rPr>
              <a:t>• Account-based sync and shared household lists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518464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8F05A"/>
                </a:solidFill>
              </a:rPr>
              <a:t>“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87552" y="54132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161A"/>
                </a:solidFill>
              </a:rPr>
              <a:t>Without verified store data, Sweep falls back to category order instead of pretending it knows an aisle.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364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A5AD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 /  ALGO1 CASE STUDY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A5ADB1"/>
                </a:solidFill>
              </a:rPr>
              <a:t>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8F05A"/>
                </a:solidFill>
              </a:rPr>
              <a:t>SWEEP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BFAF4"/>
                </a:solidFill>
              </a:rPr>
              <a:t>A better list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BFAF4"/>
                </a:solidFill>
              </a:rPr>
              <a:t>for the part that matters.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21792" y="320040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DD2D0"/>
                </a:solidFill>
              </a:rPr>
              <a:t>The question I would validate next: does guided trip mode materially reduce time, backtracking, and uncertainty for repeat shoppers?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32520" y="4279392"/>
            <a:ext cx="2331720" cy="960120"/>
          </a:xfrm>
          <a:prstGeom prst="roundRect">
            <a:avLst>
              <a:gd name="adj" fmla="val 17143"/>
            </a:avLst>
          </a:prstGeom>
          <a:solidFill>
            <a:srgbClr val="D8F05A"/>
          </a:solidFill>
          <a:ln w="12700">
            <a:solidFill>
              <a:srgbClr val="D8F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4608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1A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Sweep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Sweep — Algo1 Case Study</dc:title>
  <dc:subject>Algo1 technical product case study</dc:subject>
  <dc:creator>Sweep</dc:creator>
  <cp:lastModifiedBy>Sweep</cp:lastModifiedBy>
  <cp:revision>1</cp:revision>
  <dcterms:created xsi:type="dcterms:W3CDTF">2026-08-24T13:15:36Z</dcterms:created>
  <dcterms:modified xsi:type="dcterms:W3CDTF">2026-08-24T13:15:36Z</dcterms:modified>
</cp:coreProperties>
</file>